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Savings comparison (XOF)</a:t>
            </a:r>
          </a:p>
        </c:rich>
      </c:tx>
      <c:layout/>
      <c:overlay val="0"/>
    </c:title>
    <c:autoTitleDeleted val="0"/>
    <c:plotArea>
      <c:barChart>
        <c:barDir val="col"/>
        <c:grouping val="clustered"/>
        <c:ser>
          <c:idx val="0"/>
          <c:order val="0"/>
          <c:tx>
            <c:strRef>
              <c:f>Sheet1!$B$1</c:f>
              <c:strCache>
                <c:ptCount val="1"/>
                <c:pt idx="0">
                  <c:v>Grid Replacement</c:v>
                </c:pt>
              </c:strCache>
            </c:strRef>
          </c:tx>
          <c:cat>
            <c:strRef>
              <c:f>Sheet1!$A$2:$A$3</c:f>
              <c:strCache>
                <c:ptCount val="2"/>
                <c:pt idx="0">
                  <c:v>Annual savings</c:v>
                </c:pt>
                <c:pt idx="1">
                  <c:v>15-year savings</c:v>
                </c:pt>
              </c:strCache>
            </c:strRef>
          </c:cat>
          <c:val>
            <c:numRef>
              <c:f>Sheet1!$B$2:$B$3</c:f>
              <c:numCache>
                <c:formatCode>General</c:formatCode>
                <c:ptCount val="2"/>
                <c:pt idx="0">
                  <c:v>12612062.292750005</c:v>
                </c:pt>
                <c:pt idx="1">
                  <c:v>470773651.16624004</c:v>
                </c:pt>
              </c:numCache>
            </c:numRef>
          </c:val>
        </c:ser>
        <c:ser>
          <c:idx val="1"/>
          <c:order val="1"/>
          <c:tx>
            <c:strRef>
              <c:f>Sheet1!$C$1</c:f>
              <c:strCache>
                <c:ptCount val="1"/>
                <c:pt idx="0">
                  <c:v>Grid + Diesel</c:v>
                </c:pt>
              </c:strCache>
            </c:strRef>
          </c:tx>
          <c:cat>
            <c:strRef>
              <c:f>Sheet1!$A$2:$A$3</c:f>
              <c:strCache>
                <c:ptCount val="2"/>
                <c:pt idx="0">
                  <c:v>Annual savings</c:v>
                </c:pt>
                <c:pt idx="1">
                  <c:v>15-year savings</c:v>
                </c:pt>
              </c:strCache>
            </c:strRef>
          </c:cat>
          <c:val>
            <c:numRef>
              <c:f>Sheet1!$C$2:$C$3</c:f>
              <c:numCache>
                <c:formatCode>General</c:formatCode>
                <c:ptCount val="2"/>
                <c:pt idx="0">
                  <c:v>82562604.65024999</c:v>
                </c:pt>
                <c:pt idx="1">
                  <c:v>1723753184.7155855</c:v>
                </c:pt>
              </c:numCache>
            </c:numRef>
          </c:val>
        </c:ser>
        <c:axId val="-2068027336"/>
        <c:axId val="-2113994440"/>
      </c:barChart>
      <c:catAx>
        <c:axId val="-2068027336"/>
        <c:scaling>
          <c:orientation val="minMax"/>
        </c:scaling>
        <c:delete val="0"/>
        <c:axPos val="b"/>
        <c:title>
          <c:tx>
            <c:rich>
              <a:bodyPr/>
              <a:lstStyle/>
              <a:p>
                <a:r>
                  <a:t>Savings period</a:t>
                </a:r>
              </a:p>
            </c:rich>
          </c:tx>
          <c:layout/>
          <c:overlay val="0"/>
        </c:title>
        <c:majorTickMark val="out"/>
        <c:minorTickMark val="none"/>
        <c:tickLblPos val="nextTo"/>
        <c:crossAx val="-2113994440"/>
        <c:crosses val="autoZero"/>
        <c:auto val="1"/>
        <c:lblAlgn val="ctr"/>
        <c:lblOffset val="100"/>
        <c:noMultiLvlLbl val="0"/>
      </c:catAx>
      <c:valAx>
        <c:axId val="-2113994440"/>
        <c:scaling/>
        <c:delete val="0"/>
        <c:axPos val="l"/>
        <c:majorGridlines/>
        <c:title>
          <c:tx>
            <c:rich>
              <a:bodyPr/>
              <a:lstStyle/>
              <a:p>
                <a:r>
                  <a:t>Savings (XOF)</a:t>
                </a:r>
              </a:p>
            </c:rich>
          </c:tx>
          <c:layout/>
          <c:overlay val="0"/>
        </c:title>
        <c:numFmt formatCode="&quot;XOF&quot; #,##0" sourceLinked="0"/>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94360" y="685800"/>
            <a:ext cx="7680960" cy="640080"/>
          </a:xfrm>
          <a:prstGeom prst="rect">
            <a:avLst/>
          </a:prstGeom>
          <a:noFill/>
        </p:spPr>
        <p:txBody>
          <a:bodyPr wrap="square" lIns="27432" rIns="27432" tIns="18288" bIns="18288">
            <a:spAutoFit/>
          </a:bodyPr>
          <a:lstStyle/>
          <a:p>
            <a:pPr algn="l"/>
            <a:r>
              <a:rPr sz="2800">
                <a:solidFill>
                  <a:srgbClr val="1F2933"/>
                </a:solidFill>
              </a:rPr>
              <a:t>Aspan Energy</a:t>
            </a:r>
          </a:p>
        </p:txBody>
      </p:sp>
      <p:sp>
        <p:nvSpPr>
          <p:cNvPr id="4" name="TextBox 3"/>
          <p:cNvSpPr txBox="1"/>
          <p:nvPr/>
        </p:nvSpPr>
        <p:spPr>
          <a:xfrm>
            <a:off x="621792" y="1261872"/>
            <a:ext cx="8046720" cy="365760"/>
          </a:xfrm>
          <a:prstGeom prst="rect">
            <a:avLst/>
          </a:prstGeom>
          <a:noFill/>
        </p:spPr>
        <p:txBody>
          <a:bodyPr wrap="square" lIns="27432" rIns="27432" tIns="18288" bIns="18288">
            <a:spAutoFit/>
          </a:bodyPr>
          <a:lstStyle/>
          <a:p>
            <a:pPr algn="l"/>
            <a:r>
              <a:rPr sz="1400">
                <a:solidFill>
                  <a:srgbClr val="1F2933"/>
                </a:solidFill>
              </a:rPr>
              <a:t>Commercial solar PPA analysis</a:t>
            </a:r>
          </a:p>
        </p:txBody>
      </p:sp>
      <p:sp>
        <p:nvSpPr>
          <p:cNvPr id="5" name="TextBox 4"/>
          <p:cNvSpPr txBox="1"/>
          <p:nvPr/>
        </p:nvSpPr>
        <p:spPr>
          <a:xfrm>
            <a:off x="621792" y="2057400"/>
            <a:ext cx="7132320" cy="1554480"/>
          </a:xfrm>
          <a:prstGeom prst="rect">
            <a:avLst/>
          </a:prstGeom>
          <a:noFill/>
        </p:spPr>
        <p:txBody>
          <a:bodyPr wrap="square" lIns="27432" rIns="27432" tIns="18288" bIns="18288">
            <a:spAutoFit/>
          </a:bodyPr>
          <a:lstStyle/>
          <a:p>
            <a:pPr algn="l"/>
            <a:r>
              <a:rPr sz="2000">
                <a:solidFill>
                  <a:srgbClr val="1F2933"/>
                </a:solidFill>
              </a:rPr>
              <a:t>NESKAO</a:t>
            </a:r>
          </a:p>
          <a:p>
            <a:pPr algn="l"/>
            <a:r>
              <a:rPr sz="2000">
                <a:solidFill>
                  <a:srgbClr val="1F2933"/>
                </a:solidFill>
              </a:rPr>
              <a:t>Cote d'Ivoire | Food Processing</a:t>
            </a:r>
          </a:p>
          <a:p>
            <a:pPr algn="l"/>
            <a:r>
              <a:rPr sz="2000">
                <a:solidFill>
                  <a:srgbClr val="1F2933"/>
                </a:solidFill>
              </a:rPr>
              <a:t>Proposal date: 2026-06-21</a:t>
            </a:r>
          </a:p>
        </p:txBody>
      </p:sp>
      <p:sp>
        <p:nvSpPr>
          <p:cNvPr id="6" name="Rectangle 5"/>
          <p:cNvSpPr/>
          <p:nvPr/>
        </p:nvSpPr>
        <p:spPr>
          <a:xfrm>
            <a:off x="658368"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PV SIZE</a:t>
            </a:r>
          </a:p>
          <a:p>
            <a:pPr algn="l">
              <a:defRPr sz="1500" b="1">
                <a:solidFill>
                  <a:srgbClr val="173B33"/>
                </a:solidFill>
              </a:defRPr>
            </a:pPr>
            <a:r>
              <a:t>772.4 kWp</a:t>
            </a:r>
          </a:p>
        </p:txBody>
      </p:sp>
      <p:sp>
        <p:nvSpPr>
          <p:cNvPr id="7" name="Rectangle 6"/>
          <p:cNvSpPr/>
          <p:nvPr/>
        </p:nvSpPr>
        <p:spPr>
          <a:xfrm>
            <a:off x="2697480"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PPA TARIFF</a:t>
            </a:r>
          </a:p>
          <a:p>
            <a:pPr algn="l">
              <a:defRPr sz="1500" b="1">
                <a:solidFill>
                  <a:srgbClr val="173B33"/>
                </a:solidFill>
              </a:defRPr>
            </a:pPr>
            <a:r>
              <a:t>XOF 63.816</a:t>
            </a:r>
          </a:p>
        </p:txBody>
      </p:sp>
      <p:sp>
        <p:nvSpPr>
          <p:cNvPr id="8" name="Rectangle 7"/>
          <p:cNvSpPr/>
          <p:nvPr/>
        </p:nvSpPr>
        <p:spPr>
          <a:xfrm>
            <a:off x="4736592" y="4709160"/>
            <a:ext cx="182880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ANALYSIS</a:t>
            </a:r>
          </a:p>
          <a:p>
            <a:pPr algn="l">
              <a:defRPr sz="1500" b="1">
                <a:solidFill>
                  <a:srgbClr val="173B33"/>
                </a:solidFill>
              </a:defRPr>
            </a:pPr>
            <a:r>
              <a:t>15 years</a:t>
            </a:r>
          </a:p>
        </p:txBody>
      </p:sp>
      <p:sp>
        <p:nvSpPr>
          <p:cNvPr id="9" name="Rectangle 8"/>
          <p:cNvSpPr/>
          <p:nvPr/>
        </p:nvSpPr>
        <p:spPr>
          <a:xfrm>
            <a:off x="6775704" y="4709160"/>
            <a:ext cx="14630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CURRENCY</a:t>
            </a:r>
          </a:p>
          <a:p>
            <a:pPr algn="l">
              <a:defRPr sz="1500" b="1">
                <a:solidFill>
                  <a:srgbClr val="173B33"/>
                </a:solidFill>
              </a:defRPr>
            </a:pPr>
            <a:r>
              <a:t>XOF</a:t>
            </a:r>
          </a:p>
        </p:txBody>
      </p:sp>
      <p:sp>
        <p:nvSpPr>
          <p:cNvPr id="10" name="TextBox 9"/>
          <p:cNvSpPr txBox="1"/>
          <p:nvPr/>
        </p:nvSpPr>
        <p:spPr>
          <a:xfrm>
            <a:off x="658368" y="5623560"/>
            <a:ext cx="7863840" cy="411480"/>
          </a:xfrm>
          <a:prstGeom prst="rect">
            <a:avLst/>
          </a:prstGeom>
          <a:noFill/>
        </p:spPr>
        <p:txBody>
          <a:bodyPr wrap="square" lIns="27432" rIns="27432" tIns="18288" bIns="18288">
            <a:spAutoFit/>
          </a:bodyPr>
          <a:lstStyle/>
          <a:p>
            <a:pPr algn="l"/>
            <a:r>
              <a:rPr sz="900">
                <a:solidFill>
                  <a:srgbClr val="1F2933"/>
                </a:solidFill>
              </a:rPr>
              <a:t>Preliminary proposal generated from reviewed documents; final engineering and commercial terms require Aspan confirmation.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Executive Summary</a:t>
            </a:r>
          </a:p>
        </p:txBody>
      </p:sp>
      <p:sp>
        <p:nvSpPr>
          <p:cNvPr id="4" name="Rectangle 3"/>
          <p:cNvSpPr/>
          <p:nvPr/>
        </p:nvSpPr>
        <p:spPr>
          <a:xfrm>
            <a:off x="59436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PV SIZE</a:t>
            </a:r>
          </a:p>
          <a:p>
            <a:pPr algn="l">
              <a:defRPr sz="1500" b="1">
                <a:solidFill>
                  <a:srgbClr val="173B33"/>
                </a:solidFill>
              </a:defRPr>
            </a:pPr>
            <a:r>
              <a:t>772.4 kWp</a:t>
            </a:r>
          </a:p>
        </p:txBody>
      </p:sp>
      <p:sp>
        <p:nvSpPr>
          <p:cNvPr id="5" name="Rectangle 4"/>
          <p:cNvSpPr/>
          <p:nvPr/>
        </p:nvSpPr>
        <p:spPr>
          <a:xfrm>
            <a:off x="269748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ANNUAL PRODUCTION</a:t>
            </a:r>
          </a:p>
          <a:p>
            <a:pPr algn="l">
              <a:defRPr sz="1500" b="1">
                <a:solidFill>
                  <a:srgbClr val="173B33"/>
                </a:solidFill>
              </a:defRPr>
            </a:pPr>
            <a:r>
              <a:t>1,119,908 kWh</a:t>
            </a:r>
          </a:p>
        </p:txBody>
      </p:sp>
      <p:sp>
        <p:nvSpPr>
          <p:cNvPr id="6" name="Rectangle 5"/>
          <p:cNvSpPr/>
          <p:nvPr/>
        </p:nvSpPr>
        <p:spPr>
          <a:xfrm>
            <a:off x="480060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GRID ANNUAL SAVINGS</a:t>
            </a:r>
          </a:p>
          <a:p>
            <a:pPr algn="l">
              <a:defRPr sz="1500" b="1">
                <a:solidFill>
                  <a:srgbClr val="173B33"/>
                </a:solidFill>
              </a:defRPr>
            </a:pPr>
            <a:r>
              <a:t>XOF 12,612,062</a:t>
            </a:r>
          </a:p>
        </p:txBody>
      </p:sp>
      <p:sp>
        <p:nvSpPr>
          <p:cNvPr id="7" name="Rectangle 6"/>
          <p:cNvSpPr/>
          <p:nvPr/>
        </p:nvSpPr>
        <p:spPr>
          <a:xfrm>
            <a:off x="6903720" y="1234440"/>
            <a:ext cx="1920240" cy="713232"/>
          </a:xfrm>
          <a:prstGeom prst="rect">
            <a:avLst/>
          </a:prstGeom>
          <a:solidFill>
            <a:srgbClr val="F7FAF8"/>
          </a:solidFill>
          <a:ln>
            <a:solidFill>
              <a:srgbClr val="00A8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a:solidFill>
                  <a:srgbClr val="6B7280"/>
                </a:solidFill>
              </a:defRPr>
            </a:pPr>
            <a:r>
              <a:t>DIESEL ANNUAL SAVINGS</a:t>
            </a:r>
          </a:p>
          <a:p>
            <a:pPr algn="l">
              <a:defRPr sz="1500" b="1">
                <a:solidFill>
                  <a:srgbClr val="173B33"/>
                </a:solidFill>
              </a:defRPr>
            </a:pPr>
            <a:r>
              <a:t>XOF 82,562,605</a:t>
            </a:r>
          </a:p>
        </p:txBody>
      </p:sp>
      <p:sp>
        <p:nvSpPr>
          <p:cNvPr id="8" name="TextBox 7"/>
          <p:cNvSpPr txBox="1"/>
          <p:nvPr/>
        </p:nvSpPr>
        <p:spPr>
          <a:xfrm>
            <a:off x="658368" y="2240280"/>
            <a:ext cx="7863840" cy="1325880"/>
          </a:xfrm>
          <a:prstGeom prst="rect">
            <a:avLst/>
          </a:prstGeom>
          <a:noFill/>
        </p:spPr>
        <p:txBody>
          <a:bodyPr wrap="square" lIns="27432" rIns="27432" tIns="18288" bIns="18288">
            <a:spAutoFit/>
          </a:bodyPr>
          <a:lstStyle/>
          <a:p>
            <a:pPr algn="l"/>
            <a:r>
              <a:rPr sz="1300">
                <a:solidFill>
                  <a:srgbClr val="1F2933"/>
                </a:solidFill>
              </a:rPr>
              <a:t>Aspan Energy proposes a preliminary solar PPA solution for NESKAO.</a:t>
            </a:r>
          </a:p>
        </p:txBody>
      </p:sp>
      <p:sp>
        <p:nvSpPr>
          <p:cNvPr id="9" name="TextBox 8"/>
          <p:cNvSpPr txBox="1"/>
          <p:nvPr/>
        </p:nvSpPr>
        <p:spPr>
          <a:xfrm>
            <a:off x="658368" y="3794760"/>
            <a:ext cx="8046720" cy="1005840"/>
          </a:xfrm>
          <a:prstGeom prst="rect">
            <a:avLst/>
          </a:prstGeom>
          <a:noFill/>
        </p:spPr>
        <p:txBody>
          <a:bodyPr wrap="square" lIns="27432" rIns="27432" tIns="18288" bIns="18288">
            <a:spAutoFit/>
          </a:bodyPr>
          <a:lstStyle/>
          <a:p>
            <a:pPr algn="l">
              <a:spcAft>
                <a:spcPts val="500"/>
              </a:spcAft>
              <a:defRPr sz="1200">
                <a:solidFill>
                  <a:srgbClr val="1F2933"/>
                </a:solidFill>
              </a:defRPr>
            </a:pPr>
            <a:r>
              <a:t>Grid Replacement cumulative savings: XOF 470,773,651</a:t>
            </a:r>
          </a:p>
          <a:p>
            <a:pPr algn="l">
              <a:spcAft>
                <a:spcPts val="500"/>
              </a:spcAft>
              <a:defRPr sz="1200">
                <a:solidFill>
                  <a:srgbClr val="1F2933"/>
                </a:solidFill>
              </a:defRPr>
            </a:pPr>
            <a:r>
              <a:t>Grid + Diesel cumulative savings: XOF 1,723,753,185</a:t>
            </a:r>
          </a:p>
        </p:txBody>
      </p:sp>
      <p:sp>
        <p:nvSpPr>
          <p:cNvPr id="10" name="TextBox 9"/>
          <p:cNvSpPr txBox="1"/>
          <p:nvPr/>
        </p:nvSpPr>
        <p:spPr>
          <a:xfrm>
            <a:off x="658368" y="5029200"/>
            <a:ext cx="8046720" cy="868680"/>
          </a:xfrm>
          <a:prstGeom prst="rect">
            <a:avLst/>
          </a:prstGeom>
          <a:noFill/>
        </p:spPr>
        <p:txBody>
          <a:bodyPr wrap="square" lIns="27432" rIns="27432" tIns="18288" bIns="18288">
            <a:spAutoFit/>
          </a:bodyPr>
          <a:lstStyle/>
          <a:p>
            <a:pPr algn="l">
              <a:spcAft>
                <a:spcPts val="500"/>
              </a:spcAft>
              <a:defRPr sz="1100">
                <a:solidFill>
                  <a:srgbClr val="1F2933"/>
                </a:solidFill>
              </a:defRPr>
            </a:pPr>
            <a:r>
              <a:t>Industry: Food Processing</a:t>
            </a:r>
          </a:p>
          <a:p>
            <a:pPr algn="l">
              <a:spcAft>
                <a:spcPts val="500"/>
              </a:spcAft>
              <a:defRPr sz="1100">
                <a:solidFill>
                  <a:srgbClr val="1F2933"/>
                </a:solidFill>
              </a:defRPr>
            </a:pPr>
            <a:r>
              <a:t>Country: Cote d'Ivoire</a:t>
            </a:r>
          </a:p>
          <a:p>
            <a:pPr algn="l">
              <a:spcAft>
                <a:spcPts val="500"/>
              </a:spcAft>
              <a:defRPr sz="1100">
                <a:solidFill>
                  <a:srgbClr val="1F2933"/>
                </a:solidFill>
              </a:defRPr>
            </a:pPr>
            <a:r>
              <a:t>Diesel generators: confirmed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Current Energy Situation</a:t>
            </a:r>
          </a:p>
        </p:txBody>
      </p:sp>
      <p:sp>
        <p:nvSpPr>
          <p:cNvPr id="4" name="TextBox 3"/>
          <p:cNvSpPr txBox="1"/>
          <p:nvPr/>
        </p:nvSpPr>
        <p:spPr>
          <a:xfrm>
            <a:off x="640080" y="1234440"/>
            <a:ext cx="3749039" cy="2103120"/>
          </a:xfrm>
          <a:prstGeom prst="rect">
            <a:avLst/>
          </a:prstGeom>
          <a:noFill/>
        </p:spPr>
        <p:txBody>
          <a:bodyPr wrap="square" lIns="27432" rIns="27432" tIns="18288" bIns="18288">
            <a:spAutoFit/>
          </a:bodyPr>
          <a:lstStyle/>
          <a:p>
            <a:pPr algn="l">
              <a:spcAft>
                <a:spcPts val="500"/>
              </a:spcAft>
              <a:defRPr sz="1300">
                <a:solidFill>
                  <a:srgbClr val="1F2933"/>
                </a:solidFill>
              </a:defRPr>
            </a:pPr>
            <a:r>
              <a:t>Monthly consumption: 233,633 kWh</a:t>
            </a:r>
          </a:p>
          <a:p>
            <a:pPr algn="l">
              <a:spcAft>
                <a:spcPts val="500"/>
              </a:spcAft>
              <a:defRPr sz="1300">
                <a:solidFill>
                  <a:srgbClr val="1F2933"/>
                </a:solidFill>
              </a:defRPr>
            </a:pPr>
            <a:r>
              <a:t>Monthly electricity cost: XOF 23,546,304</a:t>
            </a:r>
          </a:p>
          <a:p>
            <a:pPr algn="l">
              <a:spcAft>
                <a:spcPts val="500"/>
              </a:spcAft>
              <a:defRPr sz="1300">
                <a:solidFill>
                  <a:srgbClr val="1F2933"/>
                </a:solidFill>
              </a:defRPr>
            </a:pPr>
            <a:r>
              <a:t>Grid tariff: XOF 75.078 per kWh</a:t>
            </a:r>
          </a:p>
          <a:p>
            <a:pPr algn="l">
              <a:spcAft>
                <a:spcPts val="500"/>
              </a:spcAft>
              <a:defRPr sz="1300">
                <a:solidFill>
                  <a:srgbClr val="1F2933"/>
                </a:solidFill>
              </a:defRPr>
            </a:pPr>
            <a:r>
              <a:t>Tariff basis: kwh weighted average across uploaded bills</a:t>
            </a:r>
          </a:p>
          <a:p>
            <a:pPr algn="l">
              <a:spcAft>
                <a:spcPts val="500"/>
              </a:spcAft>
              <a:defRPr sz="1300">
                <a:solidFill>
                  <a:srgbClr val="1F2933"/>
                </a:solidFill>
              </a:defRPr>
            </a:pPr>
            <a:r>
              <a:t>Diesel generators: Yes</a:t>
            </a:r>
          </a:p>
          <a:p>
            <a:pPr algn="l">
              <a:spcAft>
                <a:spcPts val="500"/>
              </a:spcAft>
              <a:defRPr sz="1300">
                <a:solidFill>
                  <a:srgbClr val="1F2933"/>
                </a:solidFill>
              </a:defRPr>
            </a:pPr>
            <a:r>
              <a:t>Penalties: XOF 2,860,036</a:t>
            </a:r>
          </a:p>
        </p:txBody>
      </p:sp>
      <p:sp>
        <p:nvSpPr>
          <p:cNvPr id="5" name="TextBox 4"/>
          <p:cNvSpPr txBox="1"/>
          <p:nvPr/>
        </p:nvSpPr>
        <p:spPr>
          <a:xfrm>
            <a:off x="4617720" y="1234440"/>
            <a:ext cx="3840480" cy="2560320"/>
          </a:xfrm>
          <a:prstGeom prst="rect">
            <a:avLst/>
          </a:prstGeom>
          <a:noFill/>
        </p:spPr>
        <p:txBody>
          <a:bodyPr wrap="square" lIns="27432" rIns="27432" tIns="18288" bIns="18288">
            <a:spAutoFit/>
          </a:bodyPr>
          <a:lstStyle/>
          <a:p>
            <a:pPr algn="l"/>
            <a:r>
              <a:rPr sz="1300">
                <a:solidFill>
                  <a:srgbClr val="1F2933"/>
                </a:solidFill>
              </a:rPr>
              <a:t>The reviewed bills indicate a material industrial electricity load with exposure to both active energy tariff and non-energy charges. The presence of diesel generation makes avoided fuel use a separate value driver. Final commercial use should confirm billing periods, penalties, contracted demand, and any unpaid balances excluded from the monthly cost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Proposed Solar Solution</a:t>
            </a:r>
          </a:p>
        </p:txBody>
      </p:sp>
      <p:sp>
        <p:nvSpPr>
          <p:cNvPr id="4" name="TextBox 3"/>
          <p:cNvSpPr txBox="1"/>
          <p:nvPr/>
        </p:nvSpPr>
        <p:spPr>
          <a:xfrm>
            <a:off x="640080" y="1234440"/>
            <a:ext cx="3931920" cy="2377440"/>
          </a:xfrm>
          <a:prstGeom prst="rect">
            <a:avLst/>
          </a:prstGeom>
          <a:noFill/>
        </p:spPr>
        <p:txBody>
          <a:bodyPr wrap="square" lIns="27432" rIns="27432" tIns="18288" bIns="18288">
            <a:spAutoFit/>
          </a:bodyPr>
          <a:lstStyle/>
          <a:p>
            <a:pPr algn="l">
              <a:spcAft>
                <a:spcPts val="500"/>
              </a:spcAft>
              <a:defRPr sz="1300">
                <a:solidFill>
                  <a:srgbClr val="1F2933"/>
                </a:solidFill>
              </a:defRPr>
            </a:pPr>
            <a:r>
              <a:t>Recommended size: 772.4 kWp</a:t>
            </a:r>
          </a:p>
          <a:p>
            <a:pPr algn="l">
              <a:spcAft>
                <a:spcPts val="500"/>
              </a:spcAft>
              <a:defRPr sz="1300">
                <a:solidFill>
                  <a:srgbClr val="1F2933"/>
                </a:solidFill>
              </a:defRPr>
            </a:pPr>
            <a:r>
              <a:t>Binding constraint: roof</a:t>
            </a:r>
          </a:p>
          <a:p>
            <a:pPr algn="l">
              <a:spcAft>
                <a:spcPts val="500"/>
              </a:spcAft>
              <a:defRPr sz="1300">
                <a:solidFill>
                  <a:srgbClr val="1F2933"/>
                </a:solidFill>
              </a:defRPr>
            </a:pPr>
            <a:r>
              <a:t>Estimated annual production: 1,119,908 kWh</a:t>
            </a:r>
          </a:p>
          <a:p>
            <a:pPr algn="l">
              <a:spcAft>
                <a:spcPts val="500"/>
              </a:spcAft>
              <a:defRPr sz="1300">
                <a:solidFill>
                  <a:srgbClr val="1F2933"/>
                </a:solidFill>
              </a:defRPr>
            </a:pPr>
            <a:r>
              <a:t>Daytime consumption offset cap: 2,102,697 kWh</a:t>
            </a:r>
          </a:p>
        </p:txBody>
      </p:sp>
      <p:sp>
        <p:nvSpPr>
          <p:cNvPr id="5" name="TextBox 4"/>
          <p:cNvSpPr txBox="1"/>
          <p:nvPr/>
        </p:nvSpPr>
        <p:spPr>
          <a:xfrm>
            <a:off x="4663440" y="1234440"/>
            <a:ext cx="3749039" cy="2560320"/>
          </a:xfrm>
          <a:prstGeom prst="rect">
            <a:avLst/>
          </a:prstGeom>
          <a:noFill/>
        </p:spPr>
        <p:txBody>
          <a:bodyPr wrap="square" lIns="27432" rIns="27432" tIns="18288" bIns="18288">
            <a:spAutoFit/>
          </a:bodyPr>
          <a:lstStyle/>
          <a:p>
            <a:pPr algn="l"/>
            <a:r>
              <a:rPr sz="1300">
                <a:solidFill>
                  <a:srgbClr val="1F2933"/>
                </a:solidFill>
              </a:rPr>
              <a:t>The proposed PV size is constrained by the most conservative sizing input rather than by a single headline project target. For this run, the binding constraint is roof. Final sizing should be reconfirmed after roof layout, structural access, interconnection, and operating schedule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PPA Model Explanation</a:t>
            </a:r>
          </a:p>
        </p:txBody>
      </p:sp>
      <p:sp>
        <p:nvSpPr>
          <p:cNvPr id="4" name="TextBox 3"/>
          <p:cNvSpPr txBox="1"/>
          <p:nvPr/>
        </p:nvSpPr>
        <p:spPr>
          <a:xfrm>
            <a:off x="658368" y="1234440"/>
            <a:ext cx="7955279" cy="1508760"/>
          </a:xfrm>
          <a:prstGeom prst="rect">
            <a:avLst/>
          </a:prstGeom>
          <a:noFill/>
        </p:spPr>
        <p:txBody>
          <a:bodyPr wrap="square" lIns="27432" rIns="27432" tIns="18288" bIns="18288">
            <a:spAutoFit/>
          </a:bodyPr>
          <a:lstStyle/>
          <a:p>
            <a:pPr algn="l"/>
            <a:r>
              <a:rPr sz="1400">
                <a:solidFill>
                  <a:srgbClr val="1F2933"/>
                </a:solidFill>
              </a:rPr>
              <a:t>The client pays for generated solar energy under a PPA structure.</a:t>
            </a:r>
          </a:p>
        </p:txBody>
      </p:sp>
      <p:sp>
        <p:nvSpPr>
          <p:cNvPr id="5" name="TextBox 4"/>
          <p:cNvSpPr txBox="1"/>
          <p:nvPr/>
        </p:nvSpPr>
        <p:spPr>
          <a:xfrm>
            <a:off x="658368" y="3063240"/>
            <a:ext cx="7955279" cy="1325880"/>
          </a:xfrm>
          <a:prstGeom prst="rect">
            <a:avLst/>
          </a:prstGeom>
          <a:noFill/>
        </p:spPr>
        <p:txBody>
          <a:bodyPr wrap="square" lIns="27432" rIns="27432" tIns="18288" bIns="18288">
            <a:spAutoFit/>
          </a:bodyPr>
          <a:lstStyle/>
          <a:p>
            <a:pPr algn="l">
              <a:spcAft>
                <a:spcPts val="500"/>
              </a:spcAft>
              <a:defRPr sz="1300">
                <a:solidFill>
                  <a:srgbClr val="1F2933"/>
                </a:solidFill>
              </a:defRPr>
            </a:pPr>
            <a:r>
              <a:t>No upfront CAPEX, subject to final commercial confirmation.</a:t>
            </a:r>
          </a:p>
          <a:p>
            <a:pPr algn="l">
              <a:spcAft>
                <a:spcPts val="500"/>
              </a:spcAft>
              <a:defRPr sz="1300">
                <a:solidFill>
                  <a:srgbClr val="1F2933"/>
                </a:solidFill>
              </a:defRPr>
            </a:pPr>
            <a:r>
              <a:t>Client pays for solar energy through a PPA.</a:t>
            </a:r>
          </a:p>
          <a:p>
            <a:pPr algn="l">
              <a:spcAft>
                <a:spcPts val="500"/>
              </a:spcAft>
              <a:defRPr sz="1300">
                <a:solidFill>
                  <a:srgbClr val="1F2933"/>
                </a:solidFill>
              </a:defRPr>
            </a:pPr>
            <a:r>
              <a:t>Solar reduces daytime grid or diesel reliance.</a:t>
            </a:r>
          </a:p>
          <a:p>
            <a:pPr algn="l">
              <a:spcAft>
                <a:spcPts val="500"/>
              </a:spcAft>
              <a:defRPr sz="1300">
                <a:solidFill>
                  <a:srgbClr val="1F2933"/>
                </a:solidFill>
              </a:defRPr>
            </a:pPr>
            <a:r>
              <a:t>Contract details must be confirmed by Aspan Energy.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Replacement</a:t>
            </a:r>
          </a:p>
        </p:txBody>
      </p:sp>
      <p:sp>
        <p:nvSpPr>
          <p:cNvPr id="4" name="TextBox 3"/>
          <p:cNvSpPr txBox="1"/>
          <p:nvPr/>
        </p:nvSpPr>
        <p:spPr>
          <a:xfrm>
            <a:off x="658368" y="1234440"/>
            <a:ext cx="4114800" cy="2148840"/>
          </a:xfrm>
          <a:prstGeom prst="rect">
            <a:avLst/>
          </a:prstGeom>
          <a:noFill/>
        </p:spPr>
        <p:txBody>
          <a:bodyPr wrap="square" lIns="27432" rIns="27432" tIns="18288" bIns="18288">
            <a:spAutoFit/>
          </a:bodyPr>
          <a:lstStyle/>
          <a:p>
            <a:pPr algn="l">
              <a:spcAft>
                <a:spcPts val="500"/>
              </a:spcAft>
              <a:defRPr sz="1300">
                <a:solidFill>
                  <a:srgbClr val="1F2933"/>
                </a:solidFill>
              </a:defRPr>
            </a:pPr>
            <a:r>
              <a:t>Monthly savings year 1: XOF 1,051,005</a:t>
            </a:r>
          </a:p>
          <a:p>
            <a:pPr algn="l">
              <a:spcAft>
                <a:spcPts val="500"/>
              </a:spcAft>
              <a:defRPr sz="1300">
                <a:solidFill>
                  <a:srgbClr val="1F2933"/>
                </a:solidFill>
              </a:defRPr>
            </a:pPr>
            <a:r>
              <a:t>Annual savings year 1: XOF 12,612,062</a:t>
            </a:r>
          </a:p>
          <a:p>
            <a:pPr algn="l">
              <a:spcAft>
                <a:spcPts val="500"/>
              </a:spcAft>
              <a:defRPr sz="1300">
                <a:solidFill>
                  <a:srgbClr val="1F2933"/>
                </a:solidFill>
              </a:defRPr>
            </a:pPr>
            <a:r>
              <a:t>Cumulative savings: XOF 470,773,651</a:t>
            </a:r>
          </a:p>
          <a:p>
            <a:pPr algn="l">
              <a:spcAft>
                <a:spcPts val="500"/>
              </a:spcAft>
              <a:defRPr sz="1300">
                <a:solidFill>
                  <a:srgbClr val="1F2933"/>
                </a:solidFill>
              </a:defRPr>
            </a:pPr>
            <a:r>
              <a:t>Year 1 solar used: 1,119,908 kWh</a:t>
            </a:r>
          </a:p>
          <a:p>
            <a:pPr algn="l">
              <a:spcAft>
                <a:spcPts val="500"/>
              </a:spcAft>
              <a:defRPr sz="1300">
                <a:solidFill>
                  <a:srgbClr val="1F2933"/>
                </a:solidFill>
              </a:defRPr>
            </a:pPr>
            <a:r>
              <a:t>Current cost baseline: XOF 75.078 per kWh</a:t>
            </a:r>
          </a:p>
          <a:p>
            <a:pPr algn="l">
              <a:spcAft>
                <a:spcPts val="500"/>
              </a:spcAft>
              <a:defRPr sz="1300">
                <a:solidFill>
                  <a:srgbClr val="1F2933"/>
                </a:solidFill>
              </a:defRPr>
            </a:pPr>
            <a:r>
              <a:t>PPA tariff: XOF 63.816 per kWh</a:t>
            </a:r>
          </a:p>
        </p:txBody>
      </p:sp>
      <p:sp>
        <p:nvSpPr>
          <p:cNvPr id="5" name="TextBox 4"/>
          <p:cNvSpPr txBox="1"/>
          <p:nvPr/>
        </p:nvSpPr>
        <p:spPr>
          <a:xfrm>
            <a:off x="4983480" y="1234440"/>
            <a:ext cx="3474720" cy="2331720"/>
          </a:xfrm>
          <a:prstGeom prst="rect">
            <a:avLst/>
          </a:prstGeom>
          <a:noFill/>
        </p:spPr>
        <p:txBody>
          <a:bodyPr wrap="square" lIns="27432" rIns="27432" tIns="18288" bIns="18288">
            <a:spAutoFit/>
          </a:bodyPr>
          <a:lstStyle/>
          <a:p>
            <a:pPr algn="l"/>
            <a:r>
              <a:rPr sz="1300">
                <a:solidFill>
                  <a:srgbClr val="1F2933"/>
                </a:solidFill>
              </a:rPr>
              <a:t>This scenario isolates savings where solar replaces grid electricity priced at the reviewed tariff baseline. The cumulative case applies the configured tariff escalation and PV degradation assumptions across the analysis horizon.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Economic Analysis: Grid + Diesel</a:t>
            </a:r>
          </a:p>
        </p:txBody>
      </p:sp>
      <p:sp>
        <p:nvSpPr>
          <p:cNvPr id="4" name="TextBox 3"/>
          <p:cNvSpPr txBox="1"/>
          <p:nvPr/>
        </p:nvSpPr>
        <p:spPr>
          <a:xfrm>
            <a:off x="658368" y="1234440"/>
            <a:ext cx="4114800" cy="2148840"/>
          </a:xfrm>
          <a:prstGeom prst="rect">
            <a:avLst/>
          </a:prstGeom>
          <a:noFill/>
        </p:spPr>
        <p:txBody>
          <a:bodyPr wrap="square" lIns="27432" rIns="27432" tIns="18288" bIns="18288">
            <a:spAutoFit/>
          </a:bodyPr>
          <a:lstStyle/>
          <a:p>
            <a:pPr algn="l">
              <a:spcAft>
                <a:spcPts val="500"/>
              </a:spcAft>
              <a:defRPr sz="1300">
                <a:solidFill>
                  <a:srgbClr val="1F2933"/>
                </a:solidFill>
              </a:defRPr>
            </a:pPr>
            <a:r>
              <a:t>Monthly savings year 1: XOF 6,880,217</a:t>
            </a:r>
          </a:p>
          <a:p>
            <a:pPr algn="l">
              <a:spcAft>
                <a:spcPts val="500"/>
              </a:spcAft>
              <a:defRPr sz="1300">
                <a:solidFill>
                  <a:srgbClr val="1F2933"/>
                </a:solidFill>
              </a:defRPr>
            </a:pPr>
            <a:r>
              <a:t>Annual savings year 1: XOF 82,562,605</a:t>
            </a:r>
          </a:p>
          <a:p>
            <a:pPr algn="l">
              <a:spcAft>
                <a:spcPts val="500"/>
              </a:spcAft>
              <a:defRPr sz="1300">
                <a:solidFill>
                  <a:srgbClr val="1F2933"/>
                </a:solidFill>
              </a:defRPr>
            </a:pPr>
            <a:r>
              <a:t>Cumulative savings: XOF 1,723,753,185</a:t>
            </a:r>
          </a:p>
          <a:p>
            <a:pPr algn="l">
              <a:spcAft>
                <a:spcPts val="500"/>
              </a:spcAft>
              <a:defRPr sz="1300">
                <a:solidFill>
                  <a:srgbClr val="1F2933"/>
                </a:solidFill>
              </a:defRPr>
            </a:pPr>
            <a:r>
              <a:t>Year 1 solar used: 1,119,908 kWh</a:t>
            </a:r>
          </a:p>
          <a:p>
            <a:pPr algn="l">
              <a:spcAft>
                <a:spcPts val="500"/>
              </a:spcAft>
              <a:defRPr sz="1300">
                <a:solidFill>
                  <a:srgbClr val="1F2933"/>
                </a:solidFill>
              </a:defRPr>
            </a:pPr>
            <a:r>
              <a:t>Current cost baseline: XOF 137.539 per kWh</a:t>
            </a:r>
          </a:p>
          <a:p>
            <a:pPr algn="l">
              <a:spcAft>
                <a:spcPts val="500"/>
              </a:spcAft>
              <a:defRPr sz="1300">
                <a:solidFill>
                  <a:srgbClr val="1F2933"/>
                </a:solidFill>
              </a:defRPr>
            </a:pPr>
            <a:r>
              <a:t>PPA tariff: XOF 63.816 per kWh</a:t>
            </a:r>
          </a:p>
        </p:txBody>
      </p:sp>
      <p:sp>
        <p:nvSpPr>
          <p:cNvPr id="5" name="TextBox 4"/>
          <p:cNvSpPr txBox="1"/>
          <p:nvPr/>
        </p:nvSpPr>
        <p:spPr>
          <a:xfrm>
            <a:off x="4983480" y="1234440"/>
            <a:ext cx="3474720" cy="2194560"/>
          </a:xfrm>
          <a:prstGeom prst="rect">
            <a:avLst/>
          </a:prstGeom>
          <a:noFill/>
        </p:spPr>
        <p:txBody>
          <a:bodyPr wrap="square" lIns="27432" rIns="27432" tIns="18288" bIns="18288">
            <a:spAutoFit/>
          </a:bodyPr>
          <a:lstStyle/>
          <a:p>
            <a:pPr algn="l"/>
            <a:r>
              <a:rPr sz="1300">
                <a:solidFill>
                  <a:srgbClr val="1F2933"/>
                </a:solidFill>
              </a:rPr>
              <a:t>Scenario assumes a 50% grid and 50% diesel operating baseline for displaced daytime energy.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Scenario Comparison</a:t>
            </a:r>
          </a:p>
        </p:txBody>
      </p:sp>
      <p:sp>
        <p:nvSpPr>
          <p:cNvPr id="4" name="TextBox 3"/>
          <p:cNvSpPr txBox="1"/>
          <p:nvPr/>
        </p:nvSpPr>
        <p:spPr>
          <a:xfrm>
            <a:off x="530352" y="804672"/>
            <a:ext cx="8046720" cy="292608"/>
          </a:xfrm>
          <a:prstGeom prst="rect">
            <a:avLst/>
          </a:prstGeom>
          <a:noFill/>
        </p:spPr>
        <p:txBody>
          <a:bodyPr wrap="square">
            <a:spAutoFit/>
          </a:bodyPr>
          <a:lstStyle/>
          <a:p>
            <a:pPr algn="l"/>
            <a:r>
              <a:rPr sz="900">
                <a:solidFill>
                  <a:srgbClr val="6B7280"/>
                </a:solidFill>
              </a:rPr>
              <a:t>Values shown in XOF; comparison uses year 1 annual savings and 15-year cumulative savings.</a:t>
            </a:r>
          </a:p>
        </p:txBody>
      </p:sp>
      <p:graphicFrame>
        <p:nvGraphicFramePr>
          <p:cNvPr id="5" name="Chart 4"/>
          <p:cNvGraphicFramePr>
            <a:graphicFrameLocks noGrp="1"/>
          </p:cNvGraphicFramePr>
          <p:nvPr/>
        </p:nvGraphicFramePr>
        <p:xfrm>
          <a:off x="731520" y="1234440"/>
          <a:ext cx="7680960" cy="3566160"/>
        </p:xfrm>
        <a:graphic>
          <a:graphicData uri="http://schemas.openxmlformats.org/drawingml/2006/chart">
            <c:chart xmlns:c="http://schemas.openxmlformats.org/drawingml/2006/chart" r:id="rId2"/>
          </a:graphicData>
        </a:graphic>
      </p:graphicFrame>
      <p:sp>
        <p:nvSpPr>
          <p:cNvPr id="6" name="TextBox 5"/>
          <p:cNvSpPr txBox="1"/>
          <p:nvPr/>
        </p:nvSpPr>
        <p:spPr>
          <a:xfrm>
            <a:off x="749808" y="5010912"/>
            <a:ext cx="7635240" cy="777240"/>
          </a:xfrm>
          <a:prstGeom prst="rect">
            <a:avLst/>
          </a:prstGeom>
          <a:noFill/>
        </p:spPr>
        <p:txBody>
          <a:bodyPr wrap="square" lIns="27432" rIns="27432" tIns="18288" bIns="18288">
            <a:spAutoFit/>
          </a:bodyPr>
          <a:lstStyle/>
          <a:p>
            <a:pPr algn="l">
              <a:spcAft>
                <a:spcPts val="500"/>
              </a:spcAft>
              <a:defRPr sz="900">
                <a:solidFill>
                  <a:srgbClr val="1F2933"/>
                </a:solidFill>
              </a:defRPr>
            </a:pPr>
            <a:r>
              <a:t>Unit: XOF; values are not kWh and should be read as monetary savings.</a:t>
            </a:r>
          </a:p>
          <a:p>
            <a:pPr algn="l">
              <a:spcAft>
                <a:spcPts val="500"/>
              </a:spcAft>
              <a:defRPr sz="900">
                <a:solidFill>
                  <a:srgbClr val="1F2933"/>
                </a:solidFill>
              </a:defRPr>
            </a:pPr>
            <a:r>
              <a:t>Grid + Diesel uses a blended current-cost baseline for displaced daytime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Market Context &amp; Proposal Basis</a:t>
            </a:r>
          </a:p>
        </p:txBody>
      </p:sp>
      <p:sp>
        <p:nvSpPr>
          <p:cNvPr id="4" name="TextBox 3"/>
          <p:cNvSpPr txBox="1"/>
          <p:nvPr/>
        </p:nvSpPr>
        <p:spPr>
          <a:xfrm>
            <a:off x="658368" y="1234440"/>
            <a:ext cx="7818120" cy="2103120"/>
          </a:xfrm>
          <a:prstGeom prst="rect">
            <a:avLst/>
          </a:prstGeom>
          <a:noFill/>
        </p:spPr>
        <p:txBody>
          <a:bodyPr wrap="square" lIns="27432" rIns="27432" tIns="18288" bIns="18288">
            <a:spAutoFit/>
          </a:bodyPr>
          <a:lstStyle/>
          <a:p>
            <a:pPr algn="l">
              <a:spcAft>
                <a:spcPts val="500"/>
              </a:spcAft>
              <a:defRPr sz="1300">
                <a:solidFill>
                  <a:srgbClr val="1F2933"/>
                </a:solidFill>
              </a:defRPr>
            </a:pPr>
            <a:r>
              <a:t>Cote d'Ivoire context: ICCO is located in Abidjan, reinforcing the country's role in the cocoa economy.</a:t>
            </a:r>
          </a:p>
          <a:p>
            <a:pPr algn="l">
              <a:spcAft>
                <a:spcPts val="500"/>
              </a:spcAft>
              <a:defRPr sz="1300">
                <a:solidFill>
                  <a:srgbClr val="1F2933"/>
                </a:solidFill>
              </a:defRPr>
            </a:pPr>
            <a:r>
              <a:t>Food and cocoa processing can include roasting, grinding, pressing, cooling, packaging, and process utility loads.</a:t>
            </a:r>
          </a:p>
          <a:p>
            <a:pPr algn="l">
              <a:spcAft>
                <a:spcPts val="500"/>
              </a:spcAft>
              <a:defRPr sz="1300">
                <a:solidFill>
                  <a:srgbClr val="1F2933"/>
                </a:solidFill>
              </a:defRPr>
            </a:pPr>
            <a:r>
              <a:t>World Bank Global Solar Atlas is useful for preliminary solar-resource screening; final production remains site-specific.</a:t>
            </a:r>
          </a:p>
          <a:p>
            <a:pPr algn="l">
              <a:spcAft>
                <a:spcPts val="500"/>
              </a:spcAft>
              <a:defRPr sz="1300">
                <a:solidFill>
                  <a:srgbClr val="1F2933"/>
                </a:solidFill>
              </a:defRPr>
            </a:pPr>
            <a:r>
              <a:t>Client-specific values in this deck come from uploaded bills, site reports, and offer documents rather than public web data.</a:t>
            </a:r>
          </a:p>
        </p:txBody>
      </p:sp>
      <p:sp>
        <p:nvSpPr>
          <p:cNvPr id="5" name="TextBox 4"/>
          <p:cNvSpPr txBox="1"/>
          <p:nvPr/>
        </p:nvSpPr>
        <p:spPr>
          <a:xfrm>
            <a:off x="658368" y="3566160"/>
            <a:ext cx="7863840" cy="457200"/>
          </a:xfrm>
          <a:prstGeom prst="rect">
            <a:avLst/>
          </a:prstGeom>
          <a:noFill/>
        </p:spPr>
        <p:txBody>
          <a:bodyPr wrap="square" lIns="27432" rIns="27432" tIns="18288" bIns="18288">
            <a:spAutoFit/>
          </a:bodyPr>
          <a:lstStyle/>
          <a:p>
            <a:pPr algn="l"/>
            <a:r>
              <a:rPr sz="1000">
                <a:solidFill>
                  <a:srgbClr val="1F2933"/>
                </a:solidFill>
              </a:rPr>
              <a:t>Source notes: Client documents; ICCO; World Bank Global Solar Atlas.</a:t>
            </a:r>
          </a:p>
        </p:txBody>
      </p:sp>
      <p:sp>
        <p:nvSpPr>
          <p:cNvPr id="6" name="TextBox 5"/>
          <p:cNvSpPr txBox="1"/>
          <p:nvPr/>
        </p:nvSpPr>
        <p:spPr>
          <a:xfrm>
            <a:off x="658368" y="4160520"/>
            <a:ext cx="7818120" cy="1417320"/>
          </a:xfrm>
          <a:prstGeom prst="rect">
            <a:avLst/>
          </a:prstGeom>
          <a:noFill/>
        </p:spPr>
        <p:txBody>
          <a:bodyPr wrap="square" lIns="27432" rIns="27432" tIns="18288" bIns="18288">
            <a:spAutoFit/>
          </a:bodyPr>
          <a:lstStyle/>
          <a:p>
            <a:pPr algn="l">
              <a:spcAft>
                <a:spcPts val="500"/>
              </a:spcAft>
              <a:defRPr sz="1000">
                <a:solidFill>
                  <a:srgbClr val="1F2933"/>
                </a:solidFill>
              </a:defRPr>
            </a:pPr>
            <a:r>
              <a:t>Client activity: Leading food and beverage manufacturing company specializing in the production and distribution of cocoa-based products and instant beverages for...</a:t>
            </a:r>
          </a:p>
          <a:p>
            <a:pPr algn="l">
              <a:spcAft>
                <a:spcPts val="500"/>
              </a:spcAft>
              <a:defRPr sz="1000">
                <a:solidFill>
                  <a:srgbClr val="1F2933"/>
                </a:solidFill>
              </a:defRPr>
            </a:pPr>
            <a:r>
              <a:t>Industry: Food Processing</a:t>
            </a:r>
          </a:p>
          <a:p>
            <a:pPr algn="l">
              <a:spcAft>
                <a:spcPts val="500"/>
              </a:spcAft>
              <a:defRPr sz="1000">
                <a:solidFill>
                  <a:srgbClr val="1F2933"/>
                </a:solidFill>
              </a:defRPr>
            </a:pPr>
            <a:r>
              <a:t>Country: Cote d'Ivoire</a:t>
            </a:r>
          </a:p>
          <a:p>
            <a:pPr algn="l">
              <a:spcAft>
                <a:spcPts val="500"/>
              </a:spcAft>
              <a:defRPr sz="1000">
                <a:solidFill>
                  <a:srgbClr val="1F2933"/>
                </a:solidFill>
              </a:defRPr>
            </a:pPr>
            <a:r>
              <a:t>Diesel generators: confirmed</a:t>
            </a:r>
          </a:p>
          <a:p>
            <a:pPr algn="l">
              <a:spcAft>
                <a:spcPts val="500"/>
              </a:spcAft>
              <a:defRPr sz="1000">
                <a:solidFill>
                  <a:srgbClr val="1F2933"/>
                </a:solidFill>
              </a:defRPr>
            </a:pPr>
            <a:r>
              <a:t>Site location: Abidjan</a:t>
            </a:r>
          </a:p>
          <a:p>
            <a:pPr algn="l">
              <a:spcAft>
                <a:spcPts val="500"/>
              </a:spcAft>
              <a:defRPr sz="1000">
                <a:solidFill>
                  <a:srgbClr val="1F2933"/>
                </a:solidFill>
              </a:defRPr>
            </a:pPr>
            <a:r>
              <a:t>Grid connection capacity: 1,250 kVA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Delivery Plan &amp; Next Steps</a:t>
            </a:r>
          </a:p>
        </p:txBody>
      </p:sp>
      <p:sp>
        <p:nvSpPr>
          <p:cNvPr id="4" name="TextBox 3"/>
          <p:cNvSpPr txBox="1"/>
          <p:nvPr/>
        </p:nvSpPr>
        <p:spPr>
          <a:xfrm>
            <a:off x="640080" y="1170432"/>
            <a:ext cx="2377440" cy="256032"/>
          </a:xfrm>
          <a:prstGeom prst="rect">
            <a:avLst/>
          </a:prstGeom>
          <a:noFill/>
        </p:spPr>
        <p:txBody>
          <a:bodyPr wrap="none">
            <a:spAutoFit/>
          </a:bodyPr>
          <a:lstStyle/>
          <a:p>
            <a:pPr algn="l"/>
            <a:r>
              <a:rPr sz="1000" b="1">
                <a:solidFill>
                  <a:srgbClr val="173B33"/>
                </a:solidFill>
              </a:rPr>
              <a:t>Aspan scope</a:t>
            </a:r>
          </a:p>
        </p:txBody>
      </p:sp>
      <p:sp>
        <p:nvSpPr>
          <p:cNvPr id="5" name="TextBox 4"/>
          <p:cNvSpPr txBox="1"/>
          <p:nvPr/>
        </p:nvSpPr>
        <p:spPr>
          <a:xfrm>
            <a:off x="640080" y="1536192"/>
            <a:ext cx="2423160" cy="3291840"/>
          </a:xfrm>
          <a:prstGeom prst="rect">
            <a:avLst/>
          </a:prstGeom>
          <a:noFill/>
        </p:spPr>
        <p:txBody>
          <a:bodyPr wrap="square" lIns="27432" rIns="27432" tIns="18288" bIns="18288">
            <a:spAutoFit/>
          </a:bodyPr>
          <a:lstStyle/>
          <a:p>
            <a:pPr algn="l">
              <a:spcAft>
                <a:spcPts val="500"/>
              </a:spcAft>
              <a:defRPr sz="1100">
                <a:solidFill>
                  <a:srgbClr val="1F2933"/>
                </a:solidFill>
              </a:defRPr>
            </a:pPr>
            <a:r>
              <a:t>Review energy data</a:t>
            </a:r>
          </a:p>
          <a:p>
            <a:pPr algn="l">
              <a:spcAft>
                <a:spcPts val="500"/>
              </a:spcAft>
              <a:defRPr sz="1100">
                <a:solidFill>
                  <a:srgbClr val="1F2933"/>
                </a:solidFill>
              </a:defRPr>
            </a:pPr>
            <a:r>
              <a:t>coordinate site assessment</a:t>
            </a:r>
          </a:p>
          <a:p>
            <a:pPr algn="l">
              <a:spcAft>
                <a:spcPts val="500"/>
              </a:spcAft>
              <a:defRPr sz="1100">
                <a:solidFill>
                  <a:srgbClr val="1F2933"/>
                </a:solidFill>
              </a:defRPr>
            </a:pPr>
            <a:r>
              <a:t>prepare detailed proposal</a:t>
            </a:r>
          </a:p>
        </p:txBody>
      </p:sp>
      <p:sp>
        <p:nvSpPr>
          <p:cNvPr id="6" name="TextBox 5"/>
          <p:cNvSpPr txBox="1"/>
          <p:nvPr/>
        </p:nvSpPr>
        <p:spPr>
          <a:xfrm>
            <a:off x="3337560" y="1170432"/>
            <a:ext cx="2423160" cy="256032"/>
          </a:xfrm>
          <a:prstGeom prst="rect">
            <a:avLst/>
          </a:prstGeom>
          <a:noFill/>
        </p:spPr>
        <p:txBody>
          <a:bodyPr wrap="none">
            <a:spAutoFit/>
          </a:bodyPr>
          <a:lstStyle/>
          <a:p>
            <a:pPr algn="l"/>
            <a:r>
              <a:rPr sz="1000" b="1">
                <a:solidFill>
                  <a:srgbClr val="173B33"/>
                </a:solidFill>
              </a:rPr>
              <a:t>Review process</a:t>
            </a:r>
          </a:p>
        </p:txBody>
      </p:sp>
      <p:sp>
        <p:nvSpPr>
          <p:cNvPr id="7" name="TextBox 6"/>
          <p:cNvSpPr txBox="1"/>
          <p:nvPr/>
        </p:nvSpPr>
        <p:spPr>
          <a:xfrm>
            <a:off x="3337560" y="1536192"/>
            <a:ext cx="2423160" cy="3291840"/>
          </a:xfrm>
          <a:prstGeom prst="rect">
            <a:avLst/>
          </a:prstGeom>
          <a:noFill/>
        </p:spPr>
        <p:txBody>
          <a:bodyPr wrap="square" lIns="27432" rIns="27432" tIns="18288" bIns="18288">
            <a:spAutoFit/>
          </a:bodyPr>
          <a:lstStyle/>
          <a:p>
            <a:pPr algn="l">
              <a:spcAft>
                <a:spcPts val="500"/>
              </a:spcAft>
              <a:defRPr sz="1100">
                <a:solidFill>
                  <a:srgbClr val="1F2933"/>
                </a:solidFill>
              </a:defRPr>
            </a:pPr>
            <a:r>
              <a:t>Confirm assumptions</a:t>
            </a:r>
          </a:p>
          <a:p>
            <a:pPr algn="l">
              <a:spcAft>
                <a:spcPts val="500"/>
              </a:spcAft>
              <a:defRPr sz="1100">
                <a:solidFill>
                  <a:srgbClr val="1F2933"/>
                </a:solidFill>
              </a:defRPr>
            </a:pPr>
            <a:r>
              <a:t>validate site constraints</a:t>
            </a:r>
          </a:p>
          <a:p>
            <a:pPr algn="l">
              <a:spcAft>
                <a:spcPts val="500"/>
              </a:spcAft>
              <a:defRPr sz="1100">
                <a:solidFill>
                  <a:srgbClr val="1F2933"/>
                </a:solidFill>
              </a:defRPr>
            </a:pPr>
            <a:r>
              <a:t>complete commercial review</a:t>
            </a:r>
          </a:p>
        </p:txBody>
      </p:sp>
      <p:sp>
        <p:nvSpPr>
          <p:cNvPr id="8" name="TextBox 7"/>
          <p:cNvSpPr txBox="1"/>
          <p:nvPr/>
        </p:nvSpPr>
        <p:spPr>
          <a:xfrm>
            <a:off x="5989320" y="1170432"/>
            <a:ext cx="2423160" cy="256032"/>
          </a:xfrm>
          <a:prstGeom prst="rect">
            <a:avLst/>
          </a:prstGeom>
          <a:noFill/>
        </p:spPr>
        <p:txBody>
          <a:bodyPr wrap="none">
            <a:spAutoFit/>
          </a:bodyPr>
          <a:lstStyle/>
          <a:p>
            <a:pPr algn="l"/>
            <a:r>
              <a:rPr sz="1000" b="1">
                <a:solidFill>
                  <a:srgbClr val="173B33"/>
                </a:solidFill>
              </a:rPr>
              <a:t>Immediate next steps</a:t>
            </a:r>
          </a:p>
        </p:txBody>
      </p:sp>
      <p:sp>
        <p:nvSpPr>
          <p:cNvPr id="9" name="TextBox 8"/>
          <p:cNvSpPr txBox="1"/>
          <p:nvPr/>
        </p:nvSpPr>
        <p:spPr>
          <a:xfrm>
            <a:off x="5989320" y="1536192"/>
            <a:ext cx="2514600" cy="3291840"/>
          </a:xfrm>
          <a:prstGeom prst="rect">
            <a:avLst/>
          </a:prstGeom>
          <a:noFill/>
        </p:spPr>
        <p:txBody>
          <a:bodyPr wrap="square" lIns="27432" rIns="27432" tIns="18288" bIns="18288">
            <a:spAutoFit/>
          </a:bodyPr>
          <a:lstStyle/>
          <a:p>
            <a:pPr algn="l">
              <a:spcAft>
                <a:spcPts val="500"/>
              </a:spcAft>
              <a:defRPr sz="1100">
                <a:solidFill>
                  <a:srgbClr val="1F2933"/>
                </a:solidFill>
              </a:defRPr>
            </a:pPr>
            <a:r>
              <a:t>Confirm inputs</a:t>
            </a:r>
          </a:p>
          <a:p>
            <a:pPr algn="l">
              <a:spcAft>
                <a:spcPts val="500"/>
              </a:spcAft>
              <a:defRPr sz="1100">
                <a:solidFill>
                  <a:srgbClr val="1F2933"/>
                </a:solidFill>
              </a:defRPr>
            </a:pPr>
            <a:r>
              <a:t>validate roof area</a:t>
            </a:r>
          </a:p>
          <a:p>
            <a:pPr algn="l">
              <a:spcAft>
                <a:spcPts val="500"/>
              </a:spcAft>
              <a:defRPr sz="1100">
                <a:solidFill>
                  <a:srgbClr val="1F2933"/>
                </a:solidFill>
              </a:defRPr>
            </a:pPr>
            <a:r>
              <a:t>proceed to detailed proposal</a:t>
            </a:r>
          </a:p>
        </p:txBody>
      </p:sp>
      <p:sp>
        <p:nvSpPr>
          <p:cNvPr id="10" name="TextBox 9"/>
          <p:cNvSpPr txBox="1"/>
          <p:nvPr/>
        </p:nvSpPr>
        <p:spPr>
          <a:xfrm>
            <a:off x="658368" y="5074920"/>
            <a:ext cx="7818120" cy="594360"/>
          </a:xfrm>
          <a:prstGeom prst="rect">
            <a:avLst/>
          </a:prstGeom>
          <a:noFill/>
        </p:spPr>
        <p:txBody>
          <a:bodyPr wrap="square" lIns="27432" rIns="27432" tIns="18288" bIns="18288">
            <a:spAutoFit/>
          </a:bodyPr>
          <a:lstStyle/>
          <a:p>
            <a:pPr algn="l"/>
            <a:r>
              <a:rPr sz="1000">
                <a:solidFill>
                  <a:srgbClr val="1F2933"/>
                </a:solidFill>
              </a:rPr>
              <a:t>Final dates, responsibilities, contract terms, and performance obligations remain subject to Aspan and client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A8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3" name="TextBox 2"/>
          <p:cNvSpPr txBox="1"/>
          <p:nvPr/>
        </p:nvSpPr>
        <p:spPr>
          <a:xfrm>
            <a:off x="502920" y="320040"/>
            <a:ext cx="8321040" cy="502920"/>
          </a:xfrm>
          <a:prstGeom prst="rect">
            <a:avLst/>
          </a:prstGeom>
          <a:noFill/>
        </p:spPr>
        <p:txBody>
          <a:bodyPr wrap="none">
            <a:spAutoFit/>
          </a:bodyPr>
          <a:lstStyle/>
          <a:p>
            <a:pPr algn="l"/>
            <a:r>
              <a:rPr sz="2400" b="1">
                <a:solidFill>
                  <a:srgbClr val="173B33"/>
                </a:solidFill>
              </a:rPr>
              <a:t>Assumptions Appendix</a:t>
            </a:r>
          </a:p>
        </p:txBody>
      </p:sp>
      <p:sp>
        <p:nvSpPr>
          <p:cNvPr id="4" name="TextBox 3"/>
          <p:cNvSpPr txBox="1"/>
          <p:nvPr/>
        </p:nvSpPr>
        <p:spPr>
          <a:xfrm>
            <a:off x="640080" y="1143000"/>
            <a:ext cx="3794760" cy="3383280"/>
          </a:xfrm>
          <a:prstGeom prst="rect">
            <a:avLst/>
          </a:prstGeom>
          <a:noFill/>
        </p:spPr>
        <p:txBody>
          <a:bodyPr wrap="square" lIns="27432" rIns="27432" tIns="18288" bIns="18288">
            <a:spAutoFit/>
          </a:bodyPr>
          <a:lstStyle/>
          <a:p>
            <a:pPr algn="l">
              <a:spcAft>
                <a:spcPts val="500"/>
              </a:spcAft>
              <a:defRPr sz="1100">
                <a:solidFill>
                  <a:srgbClr val="1F2933"/>
                </a:solidFill>
              </a:defRPr>
            </a:pPr>
            <a:r>
              <a:t>Monthly kWh: 233,633</a:t>
            </a:r>
          </a:p>
          <a:p>
            <a:pPr algn="l">
              <a:spcAft>
                <a:spcPts val="500"/>
              </a:spcAft>
              <a:defRPr sz="1100">
                <a:solidFill>
                  <a:srgbClr val="1F2933"/>
                </a:solidFill>
              </a:defRPr>
            </a:pPr>
            <a:r>
              <a:t>Daytime fraction: 0.75</a:t>
            </a:r>
          </a:p>
          <a:p>
            <a:pPr algn="l">
              <a:spcAft>
                <a:spcPts val="500"/>
              </a:spcAft>
              <a:defRPr sz="1100">
                <a:solidFill>
                  <a:srgbClr val="1F2933"/>
                </a:solidFill>
              </a:defRPr>
            </a:pPr>
            <a:r>
              <a:t>Roof area: 5,149 m2</a:t>
            </a:r>
          </a:p>
          <a:p>
            <a:pPr algn="l">
              <a:spcAft>
                <a:spcPts val="500"/>
              </a:spcAft>
              <a:defRPr sz="1100">
                <a:solidFill>
                  <a:srgbClr val="1F2933"/>
                </a:solidFill>
              </a:defRPr>
            </a:pPr>
            <a:r>
              <a:t>Grid capacity: 1,250 kVA</a:t>
            </a:r>
          </a:p>
          <a:p>
            <a:pPr algn="l">
              <a:spcAft>
                <a:spcPts val="500"/>
              </a:spcAft>
              <a:defRPr sz="1100">
                <a:solidFill>
                  <a:srgbClr val="1F2933"/>
                </a:solidFill>
              </a:defRPr>
            </a:pPr>
            <a:r>
              <a:t>Recommended kWp: 772.4 kWp</a:t>
            </a:r>
          </a:p>
          <a:p>
            <a:pPr algn="l">
              <a:spcAft>
                <a:spcPts val="500"/>
              </a:spcAft>
              <a:defRPr sz="1100">
                <a:solidFill>
                  <a:srgbClr val="1F2933"/>
                </a:solidFill>
              </a:defRPr>
            </a:pPr>
            <a:r>
              <a:t>PPA tariff: XOF 63.816 per kWh</a:t>
            </a:r>
          </a:p>
          <a:p>
            <a:pPr algn="l">
              <a:spcAft>
                <a:spcPts val="500"/>
              </a:spcAft>
              <a:defRPr sz="1100">
                <a:solidFill>
                  <a:srgbClr val="1F2933"/>
                </a:solidFill>
              </a:defRPr>
            </a:pPr>
            <a:r>
              <a:t>Grid tariff: XOF 75.078 per kWh</a:t>
            </a:r>
          </a:p>
          <a:p>
            <a:pPr algn="l">
              <a:spcAft>
                <a:spcPts val="500"/>
              </a:spcAft>
              <a:defRPr sz="1100">
                <a:solidFill>
                  <a:srgbClr val="1F2933"/>
                </a:solidFill>
              </a:defRPr>
            </a:pPr>
            <a:r>
              <a:t>Tariff basis: kwh weighted average across uploaded bills</a:t>
            </a:r>
          </a:p>
          <a:p>
            <a:pPr algn="l">
              <a:spcAft>
                <a:spcPts val="500"/>
              </a:spcAft>
              <a:defRPr sz="1100">
                <a:solidFill>
                  <a:srgbClr val="1F2933"/>
                </a:solidFill>
              </a:defRPr>
            </a:pPr>
            <a:r>
              <a:t>Active energy charge: XOF 17,531,792</a:t>
            </a:r>
          </a:p>
        </p:txBody>
      </p:sp>
      <p:sp>
        <p:nvSpPr>
          <p:cNvPr id="5" name="TextBox 4"/>
          <p:cNvSpPr txBox="1"/>
          <p:nvPr/>
        </p:nvSpPr>
        <p:spPr>
          <a:xfrm>
            <a:off x="4617720" y="1143000"/>
            <a:ext cx="3794760" cy="3383280"/>
          </a:xfrm>
          <a:prstGeom prst="rect">
            <a:avLst/>
          </a:prstGeom>
          <a:noFill/>
        </p:spPr>
        <p:txBody>
          <a:bodyPr wrap="square" lIns="27432" rIns="27432" tIns="18288" bIns="18288">
            <a:spAutoFit/>
          </a:bodyPr>
          <a:lstStyle/>
          <a:p>
            <a:pPr algn="l">
              <a:spcAft>
                <a:spcPts val="500"/>
              </a:spcAft>
              <a:defRPr sz="1100">
                <a:solidFill>
                  <a:srgbClr val="1F2933"/>
                </a:solidFill>
              </a:defRPr>
            </a:pPr>
            <a:r>
              <a:t>Penalties: XOF 2,860,036</a:t>
            </a:r>
          </a:p>
          <a:p>
            <a:pPr algn="l">
              <a:spcAft>
                <a:spcPts val="500"/>
              </a:spcAft>
              <a:defRPr sz="1100">
                <a:solidFill>
                  <a:srgbClr val="1F2933"/>
                </a:solidFill>
              </a:defRPr>
            </a:pPr>
            <a:r>
              <a:t>Diesel price: XOF 700.00 per liter</a:t>
            </a:r>
          </a:p>
          <a:p>
            <a:pPr algn="l">
              <a:spcAft>
                <a:spcPts val="500"/>
              </a:spcAft>
              <a:defRPr sz="1100">
                <a:solidFill>
                  <a:srgbClr val="1F2933"/>
                </a:solidFill>
              </a:defRPr>
            </a:pPr>
            <a:r>
              <a:t>Diesel kWh per liter: 3.50</a:t>
            </a:r>
          </a:p>
          <a:p>
            <a:pPr algn="l">
              <a:spcAft>
                <a:spcPts val="500"/>
              </a:spcAft>
              <a:defRPr sz="1100">
                <a:solidFill>
                  <a:srgbClr val="1F2933"/>
                </a:solidFill>
              </a:defRPr>
            </a:pPr>
            <a:r>
              <a:t>Performance ratio: 0.80</a:t>
            </a:r>
          </a:p>
          <a:p>
            <a:pPr algn="l">
              <a:spcAft>
                <a:spcPts val="500"/>
              </a:spcAft>
              <a:defRPr sz="1100">
                <a:solidFill>
                  <a:srgbClr val="1F2933"/>
                </a:solidFill>
              </a:defRPr>
            </a:pPr>
            <a:r>
              <a:t>Panel degradation rate: 0.005</a:t>
            </a:r>
          </a:p>
          <a:p>
            <a:pPr algn="l">
              <a:spcAft>
                <a:spcPts val="500"/>
              </a:spcAft>
              <a:defRPr sz="1100">
                <a:solidFill>
                  <a:srgbClr val="1F2933"/>
                </a:solidFill>
              </a:defRPr>
            </a:pPr>
            <a:r>
              <a:t>Tariff escalation rate: 0.03</a:t>
            </a:r>
          </a:p>
          <a:p>
            <a:pPr algn="l">
              <a:spcAft>
                <a:spcPts val="500"/>
              </a:spcAft>
              <a:defRPr sz="1100">
                <a:solidFill>
                  <a:srgbClr val="1F2933"/>
                </a:solidFill>
              </a:defRPr>
            </a:pPr>
            <a:r>
              <a:t>Analysis horizon: 15 years</a:t>
            </a:r>
          </a:p>
          <a:p>
            <a:pPr algn="l">
              <a:spcAft>
                <a:spcPts val="500"/>
              </a:spcAft>
              <a:defRPr sz="1100">
                <a:solidFill>
                  <a:srgbClr val="1F2933"/>
                </a:solidFill>
              </a:defRPr>
            </a:pPr>
            <a:r>
              <a:t>Production source: fallback_default_specific_yield</a:t>
            </a:r>
          </a:p>
        </p:txBody>
      </p:sp>
      <p:sp>
        <p:nvSpPr>
          <p:cNvPr id="6" name="TextBox 5"/>
          <p:cNvSpPr txBox="1"/>
          <p:nvPr/>
        </p:nvSpPr>
        <p:spPr>
          <a:xfrm>
            <a:off x="658368" y="4681728"/>
            <a:ext cx="7772400" cy="256032"/>
          </a:xfrm>
          <a:prstGeom prst="rect">
            <a:avLst/>
          </a:prstGeom>
          <a:noFill/>
        </p:spPr>
        <p:txBody>
          <a:bodyPr wrap="none">
            <a:spAutoFit/>
          </a:bodyPr>
          <a:lstStyle/>
          <a:p>
            <a:pPr algn="l"/>
            <a:r>
              <a:rPr sz="1000" b="1">
                <a:solidFill>
                  <a:srgbClr val="173B33"/>
                </a:solidFill>
              </a:rPr>
              <a:t>Review notes</a:t>
            </a:r>
          </a:p>
        </p:txBody>
      </p:sp>
      <p:sp>
        <p:nvSpPr>
          <p:cNvPr id="7" name="TextBox 6"/>
          <p:cNvSpPr txBox="1"/>
          <p:nvPr/>
        </p:nvSpPr>
        <p:spPr>
          <a:xfrm>
            <a:off x="658368" y="4983480"/>
            <a:ext cx="7818120" cy="822960"/>
          </a:xfrm>
          <a:prstGeom prst="rect">
            <a:avLst/>
          </a:prstGeom>
          <a:noFill/>
        </p:spPr>
        <p:txBody>
          <a:bodyPr wrap="square" lIns="27432" rIns="27432" tIns="18288" bIns="18288">
            <a:spAutoFit/>
          </a:bodyPr>
          <a:lstStyle/>
          <a:p>
            <a:pPr algn="l">
              <a:spcAft>
                <a:spcPts val="500"/>
              </a:spcAft>
              <a:defRPr sz="1000">
                <a:solidFill>
                  <a:srgbClr val="1F2933"/>
                </a:solidFill>
              </a:defRPr>
            </a:pPr>
            <a:r>
              <a:t>Location coordinates missing; country default coordinates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Aspan Energy placeholder proposal template</dc:title>
  <dc:subject>Editable Aspan Energy proposal template. Brand assets and final commercial terms should be confirmed before client use.</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