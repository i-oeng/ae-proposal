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t>Savings comparison (XOF)</a:t>
            </a:r>
          </a:p>
        </c:rich>
      </c:tx>
      <c:layout/>
      <c:overlay val="0"/>
    </c:title>
    <c:autoTitleDeleted val="0"/>
    <c:plotArea>
      <c:barChart>
        <c:barDir val="col"/>
        <c:grouping val="clustered"/>
        <c:ser>
          <c:idx val="0"/>
          <c:order val="0"/>
          <c:tx>
            <c:strRef>
              <c:f>Sheet1!$B$1</c:f>
              <c:strCache>
                <c:ptCount val="1"/>
                <c:pt idx="0">
                  <c:v>Grid Replacement</c:v>
                </c:pt>
              </c:strCache>
            </c:strRef>
          </c:tx>
          <c:cat>
            <c:strRef>
              <c:f>Sheet1!$A$2:$A$3</c:f>
              <c:strCache>
                <c:ptCount val="2"/>
                <c:pt idx="0">
                  <c:v>Annual savings</c:v>
                </c:pt>
                <c:pt idx="1">
                  <c:v>15-year savings</c:v>
                </c:pt>
              </c:strCache>
            </c:strRef>
          </c:cat>
          <c:val>
            <c:numRef>
              <c:f>Sheet1!$B$2:$B$3</c:f>
              <c:numCache>
                <c:formatCode>General</c:formatCode>
                <c:ptCount val="2"/>
                <c:pt idx="0">
                  <c:v>8351727.98306114</c:v>
                </c:pt>
                <c:pt idx="1">
                  <c:v>390273992.35612756</c:v>
                </c:pt>
              </c:numCache>
            </c:numRef>
          </c:val>
        </c:ser>
        <c:ser>
          <c:idx val="1"/>
          <c:order val="1"/>
          <c:tx>
            <c:strRef>
              <c:f>Sheet1!$C$1</c:f>
              <c:strCache>
                <c:ptCount val="1"/>
                <c:pt idx="0">
                  <c:v>Grid + Diesel</c:v>
                </c:pt>
              </c:strCache>
            </c:strRef>
          </c:tx>
          <c:cat>
            <c:strRef>
              <c:f>Sheet1!$A$2:$A$3</c:f>
              <c:strCache>
                <c:ptCount val="2"/>
                <c:pt idx="0">
                  <c:v>Annual savings</c:v>
                </c:pt>
                <c:pt idx="1">
                  <c:v>15-year savings</c:v>
                </c:pt>
              </c:strCache>
            </c:strRef>
          </c:cat>
          <c:val>
            <c:numRef>
              <c:f>Sheet1!$C$2:$C$3</c:f>
              <c:numCache>
                <c:formatCode>General</c:formatCode>
                <c:ptCount val="2"/>
                <c:pt idx="0">
                  <c:v>73741669.220668</c:v>
                </c:pt>
                <c:pt idx="1">
                  <c:v>1561562381.4007776</c:v>
                </c:pt>
              </c:numCache>
            </c:numRef>
          </c:val>
        </c:ser>
        <c:axId val="-2068027336"/>
        <c:axId val="-2113994440"/>
      </c:barChart>
      <c:catAx>
        <c:axId val="-2068027336"/>
        <c:scaling>
          <c:orientation val="minMax"/>
        </c:scaling>
        <c:delete val="0"/>
        <c:axPos val="b"/>
        <c:title>
          <c:tx>
            <c:rich>
              <a:bodyPr/>
              <a:lstStyle/>
              <a:p>
                <a:r>
                  <a:t>Savings period</a:t>
                </a:r>
              </a:p>
            </c:rich>
          </c:tx>
          <c:layout/>
          <c:overlay val="0"/>
        </c:title>
        <c:majorTickMark val="out"/>
        <c:minorTickMark val="none"/>
        <c:tickLblPos val="nextTo"/>
        <c:crossAx val="-2113994440"/>
        <c:crosses val="autoZero"/>
        <c:auto val="1"/>
        <c:lblAlgn val="ctr"/>
        <c:lblOffset val="100"/>
        <c:noMultiLvlLbl val="0"/>
      </c:catAx>
      <c:valAx>
        <c:axId val="-2113994440"/>
        <c:scaling/>
        <c:delete val="0"/>
        <c:axPos val="l"/>
        <c:majorGridlines/>
        <c:title>
          <c:tx>
            <c:rich>
              <a:bodyPr/>
              <a:lstStyle/>
              <a:p>
                <a:r>
                  <a:t>Savings (XOF)</a:t>
                </a:r>
              </a:p>
            </c:rich>
          </c:tx>
          <c:layout/>
          <c:overlay val="0"/>
        </c:title>
        <c:numFmt formatCode="&quot;XOF&quot; #,##0" sourceLinked="0"/>
        <c:majorTickMark val="out"/>
        <c:minorTickMark val="none"/>
        <c:tickLblPos val="nextTo"/>
        <c:crossAx val="-2068027336"/>
        <c:crosses val="autoZero"/>
      </c:valAx>
    </c:plotArea>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A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3" name="TextBox 2"/>
          <p:cNvSpPr txBox="1"/>
          <p:nvPr/>
        </p:nvSpPr>
        <p:spPr>
          <a:xfrm>
            <a:off x="594360" y="685800"/>
            <a:ext cx="7680960" cy="640080"/>
          </a:xfrm>
          <a:prstGeom prst="rect">
            <a:avLst/>
          </a:prstGeom>
          <a:noFill/>
        </p:spPr>
        <p:txBody>
          <a:bodyPr wrap="square">
            <a:spAutoFit/>
          </a:bodyPr>
          <a:lstStyle/>
          <a:p>
            <a:pPr algn="l"/>
            <a:r>
              <a:rPr sz="2800">
                <a:solidFill>
                  <a:srgbClr val="1F2933"/>
                </a:solidFill>
              </a:rPr>
              <a:t>Aspan Energy</a:t>
            </a:r>
          </a:p>
        </p:txBody>
      </p:sp>
      <p:sp>
        <p:nvSpPr>
          <p:cNvPr id="4" name="TextBox 3"/>
          <p:cNvSpPr txBox="1"/>
          <p:nvPr/>
        </p:nvSpPr>
        <p:spPr>
          <a:xfrm>
            <a:off x="621792" y="1261872"/>
            <a:ext cx="8046720" cy="365760"/>
          </a:xfrm>
          <a:prstGeom prst="rect">
            <a:avLst/>
          </a:prstGeom>
          <a:noFill/>
        </p:spPr>
        <p:txBody>
          <a:bodyPr wrap="square">
            <a:spAutoFit/>
          </a:bodyPr>
          <a:lstStyle/>
          <a:p>
            <a:pPr algn="l"/>
            <a:r>
              <a:rPr sz="1400">
                <a:solidFill>
                  <a:srgbClr val="1F2933"/>
                </a:solidFill>
              </a:rPr>
              <a:t>Commercial solar PPA analysis</a:t>
            </a:r>
          </a:p>
        </p:txBody>
      </p:sp>
      <p:sp>
        <p:nvSpPr>
          <p:cNvPr id="5" name="TextBox 4"/>
          <p:cNvSpPr txBox="1"/>
          <p:nvPr/>
        </p:nvSpPr>
        <p:spPr>
          <a:xfrm>
            <a:off x="621792" y="2057400"/>
            <a:ext cx="7132320" cy="1554480"/>
          </a:xfrm>
          <a:prstGeom prst="rect">
            <a:avLst/>
          </a:prstGeom>
          <a:noFill/>
        </p:spPr>
        <p:txBody>
          <a:bodyPr wrap="square">
            <a:spAutoFit/>
          </a:bodyPr>
          <a:lstStyle/>
          <a:p>
            <a:pPr algn="l"/>
            <a:r>
              <a:rPr sz="2000">
                <a:solidFill>
                  <a:srgbClr val="1F2933"/>
                </a:solidFill>
              </a:rPr>
              <a:t>NESKAO</a:t>
            </a:r>
          </a:p>
          <a:p>
            <a:pPr algn="l"/>
            <a:r>
              <a:rPr sz="2000">
                <a:solidFill>
                  <a:srgbClr val="1F2933"/>
                </a:solidFill>
              </a:rPr>
              <a:t>Cote d'Ivoire | Food Processing</a:t>
            </a:r>
          </a:p>
          <a:p>
            <a:pPr algn="l"/>
            <a:r>
              <a:rPr sz="2000">
                <a:solidFill>
                  <a:srgbClr val="1F2933"/>
                </a:solidFill>
              </a:rPr>
              <a:t>Proposal date: 2026-06-20</a:t>
            </a:r>
          </a:p>
        </p:txBody>
      </p:sp>
      <p:sp>
        <p:nvSpPr>
          <p:cNvPr id="6" name="Rectangle 5"/>
          <p:cNvSpPr/>
          <p:nvPr/>
        </p:nvSpPr>
        <p:spPr>
          <a:xfrm>
            <a:off x="658368" y="4709160"/>
            <a:ext cx="1828800" cy="713232"/>
          </a:xfrm>
          <a:prstGeom prst="rect">
            <a:avLst/>
          </a:prstGeom>
          <a:solidFill>
            <a:srgbClr val="F7FAF8"/>
          </a:solidFill>
          <a:ln>
            <a:solidFill>
              <a:srgbClr val="00A884"/>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700">
                <a:solidFill>
                  <a:srgbClr val="6B7280"/>
                </a:solidFill>
              </a:defRPr>
            </a:pPr>
            <a:r>
              <a:t>PV SIZE</a:t>
            </a:r>
          </a:p>
          <a:p>
            <a:pPr algn="l">
              <a:defRPr sz="1500" b="1">
                <a:solidFill>
                  <a:srgbClr val="173B33"/>
                </a:solidFill>
              </a:defRPr>
            </a:pPr>
            <a:r>
              <a:t>772.4 kWp</a:t>
            </a:r>
          </a:p>
        </p:txBody>
      </p:sp>
      <p:sp>
        <p:nvSpPr>
          <p:cNvPr id="7" name="Rectangle 6"/>
          <p:cNvSpPr/>
          <p:nvPr/>
        </p:nvSpPr>
        <p:spPr>
          <a:xfrm>
            <a:off x="2697480" y="4709160"/>
            <a:ext cx="1828800" cy="713232"/>
          </a:xfrm>
          <a:prstGeom prst="rect">
            <a:avLst/>
          </a:prstGeom>
          <a:solidFill>
            <a:srgbClr val="F7FAF8"/>
          </a:solidFill>
          <a:ln>
            <a:solidFill>
              <a:srgbClr val="00A884"/>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700">
                <a:solidFill>
                  <a:srgbClr val="6B7280"/>
                </a:solidFill>
              </a:defRPr>
            </a:pPr>
            <a:r>
              <a:t>PPA TARIFF</a:t>
            </a:r>
          </a:p>
          <a:p>
            <a:pPr algn="l">
              <a:defRPr sz="1500" b="1">
                <a:solidFill>
                  <a:srgbClr val="173B33"/>
                </a:solidFill>
              </a:defRPr>
            </a:pPr>
            <a:r>
              <a:t>XOF 67.100</a:t>
            </a:r>
          </a:p>
        </p:txBody>
      </p:sp>
      <p:sp>
        <p:nvSpPr>
          <p:cNvPr id="8" name="Rectangle 7"/>
          <p:cNvSpPr/>
          <p:nvPr/>
        </p:nvSpPr>
        <p:spPr>
          <a:xfrm>
            <a:off x="4736592" y="4709160"/>
            <a:ext cx="1828800" cy="713232"/>
          </a:xfrm>
          <a:prstGeom prst="rect">
            <a:avLst/>
          </a:prstGeom>
          <a:solidFill>
            <a:srgbClr val="F7FAF8"/>
          </a:solidFill>
          <a:ln>
            <a:solidFill>
              <a:srgbClr val="00A884"/>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700">
                <a:solidFill>
                  <a:srgbClr val="6B7280"/>
                </a:solidFill>
              </a:defRPr>
            </a:pPr>
            <a:r>
              <a:t>ANALYSIS</a:t>
            </a:r>
          </a:p>
          <a:p>
            <a:pPr algn="l">
              <a:defRPr sz="1500" b="1">
                <a:solidFill>
                  <a:srgbClr val="173B33"/>
                </a:solidFill>
              </a:defRPr>
            </a:pPr>
            <a:r>
              <a:t>15 years</a:t>
            </a:r>
          </a:p>
        </p:txBody>
      </p:sp>
      <p:sp>
        <p:nvSpPr>
          <p:cNvPr id="9" name="Rectangle 8"/>
          <p:cNvSpPr/>
          <p:nvPr/>
        </p:nvSpPr>
        <p:spPr>
          <a:xfrm>
            <a:off x="6775704" y="4709160"/>
            <a:ext cx="1463040" cy="713232"/>
          </a:xfrm>
          <a:prstGeom prst="rect">
            <a:avLst/>
          </a:prstGeom>
          <a:solidFill>
            <a:srgbClr val="F7FAF8"/>
          </a:solidFill>
          <a:ln>
            <a:solidFill>
              <a:srgbClr val="00A884"/>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700">
                <a:solidFill>
                  <a:srgbClr val="6B7280"/>
                </a:solidFill>
              </a:defRPr>
            </a:pPr>
            <a:r>
              <a:t>CURRENCY</a:t>
            </a:r>
          </a:p>
          <a:p>
            <a:pPr algn="l">
              <a:defRPr sz="1500" b="1">
                <a:solidFill>
                  <a:srgbClr val="173B33"/>
                </a:solidFill>
              </a:defRPr>
            </a:pPr>
            <a:r>
              <a:t>XOF</a:t>
            </a:r>
          </a:p>
        </p:txBody>
      </p:sp>
      <p:sp>
        <p:nvSpPr>
          <p:cNvPr id="10" name="TextBox 9"/>
          <p:cNvSpPr txBox="1"/>
          <p:nvPr/>
        </p:nvSpPr>
        <p:spPr>
          <a:xfrm>
            <a:off x="658368" y="5623560"/>
            <a:ext cx="7863840" cy="411480"/>
          </a:xfrm>
          <a:prstGeom prst="rect">
            <a:avLst/>
          </a:prstGeom>
          <a:noFill/>
        </p:spPr>
        <p:txBody>
          <a:bodyPr wrap="square">
            <a:spAutoFit/>
          </a:bodyPr>
          <a:lstStyle/>
          <a:p>
            <a:pPr algn="l"/>
            <a:r>
              <a:rPr sz="900">
                <a:solidFill>
                  <a:srgbClr val="1F2933"/>
                </a:solidFill>
              </a:rPr>
              <a:t>Preliminary proposal generated from reviewed documents; final engineering and commercial terms require Aspan confirmation.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A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3" name="TextBox 2"/>
          <p:cNvSpPr txBox="1"/>
          <p:nvPr/>
        </p:nvSpPr>
        <p:spPr>
          <a:xfrm>
            <a:off x="502920" y="320040"/>
            <a:ext cx="8321040" cy="502920"/>
          </a:xfrm>
          <a:prstGeom prst="rect">
            <a:avLst/>
          </a:prstGeom>
          <a:noFill/>
        </p:spPr>
        <p:txBody>
          <a:bodyPr wrap="none">
            <a:spAutoFit/>
          </a:bodyPr>
          <a:lstStyle/>
          <a:p>
            <a:pPr algn="l"/>
            <a:r>
              <a:rPr sz="2400" b="1">
                <a:solidFill>
                  <a:srgbClr val="173B33"/>
                </a:solidFill>
              </a:rPr>
              <a:t>Executive Summary</a:t>
            </a:r>
          </a:p>
        </p:txBody>
      </p:sp>
      <p:sp>
        <p:nvSpPr>
          <p:cNvPr id="4" name="Rectangle 3"/>
          <p:cNvSpPr/>
          <p:nvPr/>
        </p:nvSpPr>
        <p:spPr>
          <a:xfrm>
            <a:off x="594360" y="1234440"/>
            <a:ext cx="1920240" cy="713232"/>
          </a:xfrm>
          <a:prstGeom prst="rect">
            <a:avLst/>
          </a:prstGeom>
          <a:solidFill>
            <a:srgbClr val="F7FAF8"/>
          </a:solidFill>
          <a:ln>
            <a:solidFill>
              <a:srgbClr val="00A884"/>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700">
                <a:solidFill>
                  <a:srgbClr val="6B7280"/>
                </a:solidFill>
              </a:defRPr>
            </a:pPr>
            <a:r>
              <a:t>PV SIZE</a:t>
            </a:r>
          </a:p>
          <a:p>
            <a:pPr algn="l">
              <a:defRPr sz="1500" b="1">
                <a:solidFill>
                  <a:srgbClr val="173B33"/>
                </a:solidFill>
              </a:defRPr>
            </a:pPr>
            <a:r>
              <a:t>772.4 kWp</a:t>
            </a:r>
          </a:p>
        </p:txBody>
      </p:sp>
      <p:sp>
        <p:nvSpPr>
          <p:cNvPr id="5" name="Rectangle 4"/>
          <p:cNvSpPr/>
          <p:nvPr/>
        </p:nvSpPr>
        <p:spPr>
          <a:xfrm>
            <a:off x="2697480" y="1234440"/>
            <a:ext cx="1920240" cy="713232"/>
          </a:xfrm>
          <a:prstGeom prst="rect">
            <a:avLst/>
          </a:prstGeom>
          <a:solidFill>
            <a:srgbClr val="F7FAF8"/>
          </a:solidFill>
          <a:ln>
            <a:solidFill>
              <a:srgbClr val="00A884"/>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700">
                <a:solidFill>
                  <a:srgbClr val="6B7280"/>
                </a:solidFill>
              </a:defRPr>
            </a:pPr>
            <a:r>
              <a:t>ANNUAL PRODUCTION</a:t>
            </a:r>
          </a:p>
          <a:p>
            <a:pPr algn="l">
              <a:defRPr sz="1500" b="1">
                <a:solidFill>
                  <a:srgbClr val="173B33"/>
                </a:solidFill>
              </a:defRPr>
            </a:pPr>
            <a:r>
              <a:t>1,046,889 kWh</a:t>
            </a:r>
          </a:p>
        </p:txBody>
      </p:sp>
      <p:sp>
        <p:nvSpPr>
          <p:cNvPr id="6" name="Rectangle 5"/>
          <p:cNvSpPr/>
          <p:nvPr/>
        </p:nvSpPr>
        <p:spPr>
          <a:xfrm>
            <a:off x="4800600" y="1234440"/>
            <a:ext cx="1920240" cy="713232"/>
          </a:xfrm>
          <a:prstGeom prst="rect">
            <a:avLst/>
          </a:prstGeom>
          <a:solidFill>
            <a:srgbClr val="F7FAF8"/>
          </a:solidFill>
          <a:ln>
            <a:solidFill>
              <a:srgbClr val="00A884"/>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700">
                <a:solidFill>
                  <a:srgbClr val="6B7280"/>
                </a:solidFill>
              </a:defRPr>
            </a:pPr>
            <a:r>
              <a:t>GRID ANNUAL SAVINGS</a:t>
            </a:r>
          </a:p>
          <a:p>
            <a:pPr algn="l">
              <a:defRPr sz="1500" b="1">
                <a:solidFill>
                  <a:srgbClr val="173B33"/>
                </a:solidFill>
              </a:defRPr>
            </a:pPr>
            <a:r>
              <a:t>XOF 8,351,728</a:t>
            </a:r>
          </a:p>
        </p:txBody>
      </p:sp>
      <p:sp>
        <p:nvSpPr>
          <p:cNvPr id="7" name="Rectangle 6"/>
          <p:cNvSpPr/>
          <p:nvPr/>
        </p:nvSpPr>
        <p:spPr>
          <a:xfrm>
            <a:off x="6903720" y="1234440"/>
            <a:ext cx="1920240" cy="713232"/>
          </a:xfrm>
          <a:prstGeom prst="rect">
            <a:avLst/>
          </a:prstGeom>
          <a:solidFill>
            <a:srgbClr val="F7FAF8"/>
          </a:solidFill>
          <a:ln>
            <a:solidFill>
              <a:srgbClr val="00A884"/>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700">
                <a:solidFill>
                  <a:srgbClr val="6B7280"/>
                </a:solidFill>
              </a:defRPr>
            </a:pPr>
            <a:r>
              <a:t>DIESEL ANNUAL SAVINGS</a:t>
            </a:r>
          </a:p>
          <a:p>
            <a:pPr algn="l">
              <a:defRPr sz="1500" b="1">
                <a:solidFill>
                  <a:srgbClr val="173B33"/>
                </a:solidFill>
              </a:defRPr>
            </a:pPr>
            <a:r>
              <a:t>XOF 73,741,669</a:t>
            </a:r>
          </a:p>
        </p:txBody>
      </p:sp>
      <p:sp>
        <p:nvSpPr>
          <p:cNvPr id="8" name="TextBox 7"/>
          <p:cNvSpPr txBox="1"/>
          <p:nvPr/>
        </p:nvSpPr>
        <p:spPr>
          <a:xfrm>
            <a:off x="658368" y="2240280"/>
            <a:ext cx="7863840" cy="1325880"/>
          </a:xfrm>
          <a:prstGeom prst="rect">
            <a:avLst/>
          </a:prstGeom>
          <a:noFill/>
        </p:spPr>
        <p:txBody>
          <a:bodyPr wrap="square">
            <a:spAutoFit/>
          </a:bodyPr>
          <a:lstStyle/>
          <a:p>
            <a:pPr algn="l"/>
            <a:r>
              <a:rPr sz="1300">
                <a:solidFill>
                  <a:srgbClr val="1F2933"/>
                </a:solidFill>
              </a:rPr>
              <a:t>Aspan Energy proposes a preliminary solar PPA solution for NESKAO, sized against reviewed electricity consumption, roof area, grid connection, and site coordinates. The proposal compares a grid-replacement case with a grid-plus-diesel operating case so the commercial impact is clear under both baselines.</a:t>
            </a:r>
          </a:p>
        </p:txBody>
      </p:sp>
      <p:sp>
        <p:nvSpPr>
          <p:cNvPr id="9" name="TextBox 8"/>
          <p:cNvSpPr txBox="1"/>
          <p:nvPr/>
        </p:nvSpPr>
        <p:spPr>
          <a:xfrm>
            <a:off x="658368" y="3794760"/>
            <a:ext cx="8046720" cy="1005840"/>
          </a:xfrm>
          <a:prstGeom prst="rect">
            <a:avLst/>
          </a:prstGeom>
          <a:noFill/>
        </p:spPr>
        <p:txBody>
          <a:bodyPr wrap="none">
            <a:spAutoFit/>
          </a:bodyPr>
          <a:lstStyle/>
          <a:p>
            <a:pPr algn="l">
              <a:defRPr sz="1200">
                <a:solidFill>
                  <a:srgbClr val="1F2933"/>
                </a:solidFill>
              </a:defRPr>
            </a:pPr>
            <a:r>
              <a:t>Grid Replacement cumulative savings: XOF 390,273,992</a:t>
            </a:r>
          </a:p>
          <a:p>
            <a:pPr algn="l">
              <a:defRPr sz="1200">
                <a:solidFill>
                  <a:srgbClr val="1F2933"/>
                </a:solidFill>
              </a:defRPr>
            </a:pPr>
            <a:r>
              <a:t>Grid + Diesel cumulative savings: XOF 1,561,562,381</a:t>
            </a:r>
          </a:p>
        </p:txBody>
      </p:sp>
      <p:sp>
        <p:nvSpPr>
          <p:cNvPr id="10" name="TextBox 9"/>
          <p:cNvSpPr txBox="1"/>
          <p:nvPr/>
        </p:nvSpPr>
        <p:spPr>
          <a:xfrm>
            <a:off x="658368" y="5074920"/>
            <a:ext cx="8046720" cy="777240"/>
          </a:xfrm>
          <a:prstGeom prst="rect">
            <a:avLst/>
          </a:prstGeom>
          <a:noFill/>
        </p:spPr>
        <p:txBody>
          <a:bodyPr wrap="none">
            <a:spAutoFit/>
          </a:bodyPr>
          <a:lstStyle/>
          <a:p>
            <a:pPr algn="l">
              <a:defRPr sz="900">
                <a:solidFill>
                  <a:srgbClr val="1F2933"/>
                </a:solidFill>
              </a:defRPr>
            </a:pPr>
            <a:r>
              <a:t>Client activity: Cocoa and food-processing operation with production, packaging, and utility loads.</a:t>
            </a:r>
          </a:p>
          <a:p>
            <a:pPr algn="l">
              <a:defRPr sz="900">
                <a:solidFill>
                  <a:srgbClr val="1F2933"/>
                </a:solidFill>
              </a:defRPr>
            </a:pPr>
            <a:r>
              <a:t>Industry: Food Processing</a:t>
            </a:r>
          </a:p>
          <a:p>
            <a:pPr algn="l">
              <a:defRPr sz="900">
                <a:solidFill>
                  <a:srgbClr val="1F2933"/>
                </a:solidFill>
              </a:defRPr>
            </a:pPr>
            <a:r>
              <a:t>Country: Cote d'Ivoire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A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3" name="TextBox 2"/>
          <p:cNvSpPr txBox="1"/>
          <p:nvPr/>
        </p:nvSpPr>
        <p:spPr>
          <a:xfrm>
            <a:off x="502920" y="320040"/>
            <a:ext cx="8321040" cy="502920"/>
          </a:xfrm>
          <a:prstGeom prst="rect">
            <a:avLst/>
          </a:prstGeom>
          <a:noFill/>
        </p:spPr>
        <p:txBody>
          <a:bodyPr wrap="none">
            <a:spAutoFit/>
          </a:bodyPr>
          <a:lstStyle/>
          <a:p>
            <a:pPr algn="l"/>
            <a:r>
              <a:rPr sz="2400" b="1">
                <a:solidFill>
                  <a:srgbClr val="173B33"/>
                </a:solidFill>
              </a:rPr>
              <a:t>Current Energy Situation</a:t>
            </a:r>
          </a:p>
        </p:txBody>
      </p:sp>
      <p:sp>
        <p:nvSpPr>
          <p:cNvPr id="4" name="TextBox 3"/>
          <p:cNvSpPr txBox="1"/>
          <p:nvPr/>
        </p:nvSpPr>
        <p:spPr>
          <a:xfrm>
            <a:off x="640080" y="1234440"/>
            <a:ext cx="3749039" cy="2103120"/>
          </a:xfrm>
          <a:prstGeom prst="rect">
            <a:avLst/>
          </a:prstGeom>
          <a:noFill/>
        </p:spPr>
        <p:txBody>
          <a:bodyPr wrap="none">
            <a:spAutoFit/>
          </a:bodyPr>
          <a:lstStyle/>
          <a:p>
            <a:pPr algn="l">
              <a:defRPr sz="1200">
                <a:solidFill>
                  <a:srgbClr val="1F2933"/>
                </a:solidFill>
              </a:defRPr>
            </a:pPr>
            <a:r>
              <a:t>Monthly consumption: 233,633 kWh</a:t>
            </a:r>
          </a:p>
          <a:p>
            <a:pPr algn="l">
              <a:defRPr sz="1200">
                <a:solidFill>
                  <a:srgbClr val="1F2933"/>
                </a:solidFill>
              </a:defRPr>
            </a:pPr>
            <a:r>
              <a:t>Monthly electricity cost: XOF 23,546,304</a:t>
            </a:r>
          </a:p>
          <a:p>
            <a:pPr algn="l">
              <a:defRPr sz="1200">
                <a:solidFill>
                  <a:srgbClr val="1F2933"/>
                </a:solidFill>
              </a:defRPr>
            </a:pPr>
            <a:r>
              <a:t>Grid tariff: XOF 75.078 per kWh</a:t>
            </a:r>
          </a:p>
          <a:p>
            <a:pPr algn="l">
              <a:defRPr sz="1200">
                <a:solidFill>
                  <a:srgbClr val="1F2933"/>
                </a:solidFill>
              </a:defRPr>
            </a:pPr>
            <a:r>
              <a:t>Tariff basis: kwh weighted average across uploaded bills</a:t>
            </a:r>
          </a:p>
          <a:p>
            <a:pPr algn="l">
              <a:defRPr sz="1200">
                <a:solidFill>
                  <a:srgbClr val="1F2933"/>
                </a:solidFill>
              </a:defRPr>
            </a:pPr>
            <a:r>
              <a:t>Diesel generators: Yes</a:t>
            </a:r>
          </a:p>
          <a:p>
            <a:pPr algn="l">
              <a:defRPr sz="1200">
                <a:solidFill>
                  <a:srgbClr val="1F2933"/>
                </a:solidFill>
              </a:defRPr>
            </a:pPr>
            <a:r>
              <a:t>Penalties: XOF 2,860,036</a:t>
            </a:r>
          </a:p>
        </p:txBody>
      </p:sp>
      <p:sp>
        <p:nvSpPr>
          <p:cNvPr id="5" name="TextBox 4"/>
          <p:cNvSpPr txBox="1"/>
          <p:nvPr/>
        </p:nvSpPr>
        <p:spPr>
          <a:xfrm>
            <a:off x="4617720" y="1234440"/>
            <a:ext cx="3840480" cy="2560320"/>
          </a:xfrm>
          <a:prstGeom prst="rect">
            <a:avLst/>
          </a:prstGeom>
          <a:noFill/>
        </p:spPr>
        <p:txBody>
          <a:bodyPr wrap="square">
            <a:spAutoFit/>
          </a:bodyPr>
          <a:lstStyle/>
          <a:p>
            <a:pPr algn="l"/>
            <a:r>
              <a:rPr sz="1200">
                <a:solidFill>
                  <a:srgbClr val="1F2933"/>
                </a:solidFill>
              </a:rPr>
              <a:t>The reviewed bills indicate a material industrial electricity load with exposure to both active energy tariff and non-energy charges. The presence of diesel generation makes avoided fuel use a separate value driver. Final commercial use should confirm billing periods, penalties, contracted demand, and any unpaid balances excluded from the monthly cost baseline.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A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3" name="TextBox 2"/>
          <p:cNvSpPr txBox="1"/>
          <p:nvPr/>
        </p:nvSpPr>
        <p:spPr>
          <a:xfrm>
            <a:off x="502920" y="320040"/>
            <a:ext cx="8321040" cy="502920"/>
          </a:xfrm>
          <a:prstGeom prst="rect">
            <a:avLst/>
          </a:prstGeom>
          <a:noFill/>
        </p:spPr>
        <p:txBody>
          <a:bodyPr wrap="none">
            <a:spAutoFit/>
          </a:bodyPr>
          <a:lstStyle/>
          <a:p>
            <a:pPr algn="l"/>
            <a:r>
              <a:rPr sz="2400" b="1">
                <a:solidFill>
                  <a:srgbClr val="173B33"/>
                </a:solidFill>
              </a:rPr>
              <a:t>Proposed Solar Solution</a:t>
            </a:r>
          </a:p>
        </p:txBody>
      </p:sp>
      <p:sp>
        <p:nvSpPr>
          <p:cNvPr id="4" name="TextBox 3"/>
          <p:cNvSpPr txBox="1"/>
          <p:nvPr/>
        </p:nvSpPr>
        <p:spPr>
          <a:xfrm>
            <a:off x="640080" y="1234440"/>
            <a:ext cx="3931920" cy="2377440"/>
          </a:xfrm>
          <a:prstGeom prst="rect">
            <a:avLst/>
          </a:prstGeom>
          <a:noFill/>
        </p:spPr>
        <p:txBody>
          <a:bodyPr wrap="none">
            <a:spAutoFit/>
          </a:bodyPr>
          <a:lstStyle/>
          <a:p>
            <a:pPr algn="l">
              <a:defRPr sz="1200">
                <a:solidFill>
                  <a:srgbClr val="1F2933"/>
                </a:solidFill>
              </a:defRPr>
            </a:pPr>
            <a:r>
              <a:t>Recommended size: 772.4 kWp</a:t>
            </a:r>
          </a:p>
          <a:p>
            <a:pPr algn="l">
              <a:defRPr sz="1200">
                <a:solidFill>
                  <a:srgbClr val="1F2933"/>
                </a:solidFill>
              </a:defRPr>
            </a:pPr>
            <a:r>
              <a:t>Binding constraint: roof</a:t>
            </a:r>
          </a:p>
          <a:p>
            <a:pPr algn="l">
              <a:defRPr sz="1200">
                <a:solidFill>
                  <a:srgbClr val="1F2933"/>
                </a:solidFill>
              </a:defRPr>
            </a:pPr>
            <a:r>
              <a:t>Estimated annual production: 1,046,889 kWh</a:t>
            </a:r>
          </a:p>
          <a:p>
            <a:pPr algn="l">
              <a:defRPr sz="1200">
                <a:solidFill>
                  <a:srgbClr val="1F2933"/>
                </a:solidFill>
              </a:defRPr>
            </a:pPr>
            <a:r>
              <a:t>Daytime consumption offset cap: 2,102,700 kWh</a:t>
            </a:r>
          </a:p>
        </p:txBody>
      </p:sp>
      <p:sp>
        <p:nvSpPr>
          <p:cNvPr id="5" name="TextBox 4"/>
          <p:cNvSpPr txBox="1"/>
          <p:nvPr/>
        </p:nvSpPr>
        <p:spPr>
          <a:xfrm>
            <a:off x="4663440" y="1234440"/>
            <a:ext cx="3749039" cy="2560320"/>
          </a:xfrm>
          <a:prstGeom prst="rect">
            <a:avLst/>
          </a:prstGeom>
          <a:noFill/>
        </p:spPr>
        <p:txBody>
          <a:bodyPr wrap="square">
            <a:spAutoFit/>
          </a:bodyPr>
          <a:lstStyle/>
          <a:p>
            <a:pPr algn="l"/>
            <a:r>
              <a:rPr sz="1200">
                <a:solidFill>
                  <a:srgbClr val="1F2933"/>
                </a:solidFill>
              </a:rPr>
              <a:t>The proposed PV size is constrained by the most conservative sizing input rather than by a single headline project target. For this run, the binding constraint is roof. Final sizing should be reconfirmed after roof layout, structural access, interconnection, and operating schedule review.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A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3" name="TextBox 2"/>
          <p:cNvSpPr txBox="1"/>
          <p:nvPr/>
        </p:nvSpPr>
        <p:spPr>
          <a:xfrm>
            <a:off x="502920" y="320040"/>
            <a:ext cx="8321040" cy="502920"/>
          </a:xfrm>
          <a:prstGeom prst="rect">
            <a:avLst/>
          </a:prstGeom>
          <a:noFill/>
        </p:spPr>
        <p:txBody>
          <a:bodyPr wrap="none">
            <a:spAutoFit/>
          </a:bodyPr>
          <a:lstStyle/>
          <a:p>
            <a:pPr algn="l"/>
            <a:r>
              <a:rPr sz="2400" b="1">
                <a:solidFill>
                  <a:srgbClr val="173B33"/>
                </a:solidFill>
              </a:rPr>
              <a:t>PPA Model Explanation</a:t>
            </a:r>
          </a:p>
        </p:txBody>
      </p:sp>
      <p:sp>
        <p:nvSpPr>
          <p:cNvPr id="4" name="TextBox 3"/>
          <p:cNvSpPr txBox="1"/>
          <p:nvPr/>
        </p:nvSpPr>
        <p:spPr>
          <a:xfrm>
            <a:off x="658368" y="1234440"/>
            <a:ext cx="7955279" cy="1508760"/>
          </a:xfrm>
          <a:prstGeom prst="rect">
            <a:avLst/>
          </a:prstGeom>
          <a:noFill/>
        </p:spPr>
        <p:txBody>
          <a:bodyPr wrap="square">
            <a:spAutoFit/>
          </a:bodyPr>
          <a:lstStyle/>
          <a:p>
            <a:pPr algn="l"/>
            <a:r>
              <a:rPr sz="1400">
                <a:solidFill>
                  <a:srgbClr val="1F2933"/>
                </a:solidFill>
              </a:rPr>
              <a:t>Under the PPA model, NESKAO would purchase solar energy generated by the project instead of funding the full system upfront. Final tariff mechanics, term, ownership, performance obligations, and legal structure remain subject to Aspan and client confirmation.</a:t>
            </a:r>
          </a:p>
        </p:txBody>
      </p:sp>
      <p:sp>
        <p:nvSpPr>
          <p:cNvPr id="5" name="TextBox 4"/>
          <p:cNvSpPr txBox="1"/>
          <p:nvPr/>
        </p:nvSpPr>
        <p:spPr>
          <a:xfrm>
            <a:off x="658368" y="3063240"/>
            <a:ext cx="7955279" cy="1325880"/>
          </a:xfrm>
          <a:prstGeom prst="rect">
            <a:avLst/>
          </a:prstGeom>
          <a:noFill/>
        </p:spPr>
        <p:txBody>
          <a:bodyPr wrap="none">
            <a:spAutoFit/>
          </a:bodyPr>
          <a:lstStyle/>
          <a:p>
            <a:pPr algn="l">
              <a:defRPr sz="1200">
                <a:solidFill>
                  <a:srgbClr val="1F2933"/>
                </a:solidFill>
              </a:defRPr>
            </a:pPr>
            <a:r>
              <a:t>No upfront CAPEX, subject to final commercial confirmation.</a:t>
            </a:r>
          </a:p>
          <a:p>
            <a:pPr algn="l">
              <a:defRPr sz="1200">
                <a:solidFill>
                  <a:srgbClr val="1F2933"/>
                </a:solidFill>
              </a:defRPr>
            </a:pPr>
            <a:r>
              <a:t>Client pays for solar energy through a PPA.</a:t>
            </a:r>
          </a:p>
          <a:p>
            <a:pPr algn="l">
              <a:defRPr sz="1200">
                <a:solidFill>
                  <a:srgbClr val="1F2933"/>
                </a:solidFill>
              </a:defRPr>
            </a:pPr>
            <a:r>
              <a:t>Solar reduces daytime grid or diesel reliance.</a:t>
            </a:r>
          </a:p>
          <a:p>
            <a:pPr algn="l">
              <a:defRPr sz="1200">
                <a:solidFill>
                  <a:srgbClr val="1F2933"/>
                </a:solidFill>
              </a:defRPr>
            </a:pPr>
            <a:r>
              <a:t>Contract details must be confirmed by Aspan Energy.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A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3" name="TextBox 2"/>
          <p:cNvSpPr txBox="1"/>
          <p:nvPr/>
        </p:nvSpPr>
        <p:spPr>
          <a:xfrm>
            <a:off x="502920" y="320040"/>
            <a:ext cx="8321040" cy="502920"/>
          </a:xfrm>
          <a:prstGeom prst="rect">
            <a:avLst/>
          </a:prstGeom>
          <a:noFill/>
        </p:spPr>
        <p:txBody>
          <a:bodyPr wrap="none">
            <a:spAutoFit/>
          </a:bodyPr>
          <a:lstStyle/>
          <a:p>
            <a:pPr algn="l"/>
            <a:r>
              <a:rPr sz="2400" b="1">
                <a:solidFill>
                  <a:srgbClr val="173B33"/>
                </a:solidFill>
              </a:rPr>
              <a:t>Economic Analysis: Grid Replacement</a:t>
            </a:r>
          </a:p>
        </p:txBody>
      </p:sp>
      <p:sp>
        <p:nvSpPr>
          <p:cNvPr id="4" name="TextBox 3"/>
          <p:cNvSpPr txBox="1"/>
          <p:nvPr/>
        </p:nvSpPr>
        <p:spPr>
          <a:xfrm>
            <a:off x="658368" y="1234440"/>
            <a:ext cx="4114800" cy="1920240"/>
          </a:xfrm>
          <a:prstGeom prst="rect">
            <a:avLst/>
          </a:prstGeom>
          <a:noFill/>
        </p:spPr>
        <p:txBody>
          <a:bodyPr wrap="none">
            <a:spAutoFit/>
          </a:bodyPr>
          <a:lstStyle/>
          <a:p>
            <a:pPr algn="l">
              <a:defRPr sz="1200">
                <a:solidFill>
                  <a:srgbClr val="1F2933"/>
                </a:solidFill>
              </a:defRPr>
            </a:pPr>
            <a:r>
              <a:t>Monthly savings year 1: XOF 695,977</a:t>
            </a:r>
          </a:p>
          <a:p>
            <a:pPr algn="l">
              <a:defRPr sz="1200">
                <a:solidFill>
                  <a:srgbClr val="1F2933"/>
                </a:solidFill>
              </a:defRPr>
            </a:pPr>
            <a:r>
              <a:t>Annual savings year 1: XOF 8,351,728</a:t>
            </a:r>
          </a:p>
          <a:p>
            <a:pPr algn="l">
              <a:defRPr sz="1200">
                <a:solidFill>
                  <a:srgbClr val="1F2933"/>
                </a:solidFill>
              </a:defRPr>
            </a:pPr>
            <a:r>
              <a:t>Cumulative savings: XOF 390,273,992</a:t>
            </a:r>
          </a:p>
          <a:p>
            <a:pPr algn="l">
              <a:defRPr sz="1200">
                <a:solidFill>
                  <a:srgbClr val="1F2933"/>
                </a:solidFill>
              </a:defRPr>
            </a:pPr>
            <a:r>
              <a:t>Year 1 solar used: 1,046,889 kWh</a:t>
            </a:r>
          </a:p>
          <a:p>
            <a:pPr algn="l">
              <a:defRPr sz="1200">
                <a:solidFill>
                  <a:srgbClr val="1F2933"/>
                </a:solidFill>
              </a:defRPr>
            </a:pPr>
            <a:r>
              <a:t>Current cost baseline: XOF 75.078 per kWh</a:t>
            </a:r>
          </a:p>
          <a:p>
            <a:pPr algn="l">
              <a:defRPr sz="1200">
                <a:solidFill>
                  <a:srgbClr val="1F2933"/>
                </a:solidFill>
              </a:defRPr>
            </a:pPr>
            <a:r>
              <a:t>PPA tariff: XOF 67.100 per kWh</a:t>
            </a:r>
          </a:p>
        </p:txBody>
      </p:sp>
      <p:sp>
        <p:nvSpPr>
          <p:cNvPr id="5" name="TextBox 4"/>
          <p:cNvSpPr txBox="1"/>
          <p:nvPr/>
        </p:nvSpPr>
        <p:spPr>
          <a:xfrm>
            <a:off x="4983480" y="1234440"/>
            <a:ext cx="3474720" cy="2194560"/>
          </a:xfrm>
          <a:prstGeom prst="rect">
            <a:avLst/>
          </a:prstGeom>
          <a:noFill/>
        </p:spPr>
        <p:txBody>
          <a:bodyPr wrap="square">
            <a:spAutoFit/>
          </a:bodyPr>
          <a:lstStyle/>
          <a:p>
            <a:pPr algn="l"/>
            <a:r>
              <a:rPr sz="1200">
                <a:solidFill>
                  <a:srgbClr val="1F2933"/>
                </a:solidFill>
              </a:rPr>
              <a:t>This scenario isolates savings where solar replaces grid electricity priced at the reviewed tariff baseline. The cumulative case applies the configured tariff escalation and PV degradation assumptions across the analysis horizon.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A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3" name="TextBox 2"/>
          <p:cNvSpPr txBox="1"/>
          <p:nvPr/>
        </p:nvSpPr>
        <p:spPr>
          <a:xfrm>
            <a:off x="502920" y="320040"/>
            <a:ext cx="8321040" cy="502920"/>
          </a:xfrm>
          <a:prstGeom prst="rect">
            <a:avLst/>
          </a:prstGeom>
          <a:noFill/>
        </p:spPr>
        <p:txBody>
          <a:bodyPr wrap="none">
            <a:spAutoFit/>
          </a:bodyPr>
          <a:lstStyle/>
          <a:p>
            <a:pPr algn="l"/>
            <a:r>
              <a:rPr sz="2400" b="1">
                <a:solidFill>
                  <a:srgbClr val="173B33"/>
                </a:solidFill>
              </a:rPr>
              <a:t>Economic Analysis: Grid + Diesel</a:t>
            </a:r>
          </a:p>
        </p:txBody>
      </p:sp>
      <p:sp>
        <p:nvSpPr>
          <p:cNvPr id="4" name="TextBox 3"/>
          <p:cNvSpPr txBox="1"/>
          <p:nvPr/>
        </p:nvSpPr>
        <p:spPr>
          <a:xfrm>
            <a:off x="658368" y="1234440"/>
            <a:ext cx="4114800" cy="1920240"/>
          </a:xfrm>
          <a:prstGeom prst="rect">
            <a:avLst/>
          </a:prstGeom>
          <a:noFill/>
        </p:spPr>
        <p:txBody>
          <a:bodyPr wrap="none">
            <a:spAutoFit/>
          </a:bodyPr>
          <a:lstStyle/>
          <a:p>
            <a:pPr algn="l">
              <a:defRPr sz="1200">
                <a:solidFill>
                  <a:srgbClr val="1F2933"/>
                </a:solidFill>
              </a:defRPr>
            </a:pPr>
            <a:r>
              <a:t>Monthly savings year 1: XOF 6,145,139</a:t>
            </a:r>
          </a:p>
          <a:p>
            <a:pPr algn="l">
              <a:defRPr sz="1200">
                <a:solidFill>
                  <a:srgbClr val="1F2933"/>
                </a:solidFill>
              </a:defRPr>
            </a:pPr>
            <a:r>
              <a:t>Annual savings year 1: XOF 73,741,669</a:t>
            </a:r>
          </a:p>
          <a:p>
            <a:pPr algn="l">
              <a:defRPr sz="1200">
                <a:solidFill>
                  <a:srgbClr val="1F2933"/>
                </a:solidFill>
              </a:defRPr>
            </a:pPr>
            <a:r>
              <a:t>Cumulative savings: XOF 1,561,562,381</a:t>
            </a:r>
          </a:p>
          <a:p>
            <a:pPr algn="l">
              <a:defRPr sz="1200">
                <a:solidFill>
                  <a:srgbClr val="1F2933"/>
                </a:solidFill>
              </a:defRPr>
            </a:pPr>
            <a:r>
              <a:t>Year 1 solar used: 1,046,889 kWh</a:t>
            </a:r>
          </a:p>
          <a:p>
            <a:pPr algn="l">
              <a:defRPr sz="1200">
                <a:solidFill>
                  <a:srgbClr val="1F2933"/>
                </a:solidFill>
              </a:defRPr>
            </a:pPr>
            <a:r>
              <a:t>Current cost baseline: XOF 137.539 per kWh</a:t>
            </a:r>
          </a:p>
          <a:p>
            <a:pPr algn="l">
              <a:defRPr sz="1200">
                <a:solidFill>
                  <a:srgbClr val="1F2933"/>
                </a:solidFill>
              </a:defRPr>
            </a:pPr>
            <a:r>
              <a:t>PPA tariff: XOF 67.100 per kWh</a:t>
            </a:r>
          </a:p>
        </p:txBody>
      </p:sp>
      <p:sp>
        <p:nvSpPr>
          <p:cNvPr id="5" name="TextBox 4"/>
          <p:cNvSpPr txBox="1"/>
          <p:nvPr/>
        </p:nvSpPr>
        <p:spPr>
          <a:xfrm>
            <a:off x="4983480" y="1234440"/>
            <a:ext cx="3474720" cy="2194560"/>
          </a:xfrm>
          <a:prstGeom prst="rect">
            <a:avLst/>
          </a:prstGeom>
          <a:noFill/>
        </p:spPr>
        <p:txBody>
          <a:bodyPr wrap="square">
            <a:spAutoFit/>
          </a:bodyPr>
          <a:lstStyle/>
          <a:p>
            <a:pPr algn="l"/>
            <a:r>
              <a:rPr sz="1300">
                <a:solidFill>
                  <a:srgbClr val="1F2933"/>
                </a:solidFill>
              </a:rPr>
              <a:t>Scenario assumes a 50% grid and 50% diesel operating baseline for displaced daytime energy.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A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3" name="TextBox 2"/>
          <p:cNvSpPr txBox="1"/>
          <p:nvPr/>
        </p:nvSpPr>
        <p:spPr>
          <a:xfrm>
            <a:off x="502920" y="320040"/>
            <a:ext cx="8321040" cy="502920"/>
          </a:xfrm>
          <a:prstGeom prst="rect">
            <a:avLst/>
          </a:prstGeom>
          <a:noFill/>
        </p:spPr>
        <p:txBody>
          <a:bodyPr wrap="none">
            <a:spAutoFit/>
          </a:bodyPr>
          <a:lstStyle/>
          <a:p>
            <a:pPr algn="l"/>
            <a:r>
              <a:rPr sz="2400" b="1">
                <a:solidFill>
                  <a:srgbClr val="173B33"/>
                </a:solidFill>
              </a:rPr>
              <a:t>Scenario Comparison</a:t>
            </a:r>
          </a:p>
        </p:txBody>
      </p:sp>
      <p:sp>
        <p:nvSpPr>
          <p:cNvPr id="4" name="TextBox 3"/>
          <p:cNvSpPr txBox="1"/>
          <p:nvPr/>
        </p:nvSpPr>
        <p:spPr>
          <a:xfrm>
            <a:off x="530352" y="804672"/>
            <a:ext cx="8046720" cy="292608"/>
          </a:xfrm>
          <a:prstGeom prst="rect">
            <a:avLst/>
          </a:prstGeom>
          <a:noFill/>
        </p:spPr>
        <p:txBody>
          <a:bodyPr wrap="none">
            <a:spAutoFit/>
          </a:bodyPr>
          <a:lstStyle/>
          <a:p>
            <a:pPr algn="l"/>
            <a:r>
              <a:rPr sz="900">
                <a:solidFill>
                  <a:srgbClr val="6B7280"/>
                </a:solidFill>
              </a:rPr>
              <a:t>Values shown in XOF; comparison uses year 1 annual savings and 15-year cumulative savings.</a:t>
            </a:r>
          </a:p>
        </p:txBody>
      </p:sp>
      <p:graphicFrame>
        <p:nvGraphicFramePr>
          <p:cNvPr id="5" name="Chart 4"/>
          <p:cNvGraphicFramePr>
            <a:graphicFrameLocks noGrp="1"/>
          </p:cNvGraphicFramePr>
          <p:nvPr/>
        </p:nvGraphicFramePr>
        <p:xfrm>
          <a:off x="731520" y="1234440"/>
          <a:ext cx="7680960" cy="3566160"/>
        </p:xfrm>
        <a:graphic>
          <a:graphicData uri="http://schemas.openxmlformats.org/drawingml/2006/chart">
            <c:chart xmlns:c="http://schemas.openxmlformats.org/drawingml/2006/chart" r:id="rId2"/>
          </a:graphicData>
        </a:graphic>
      </p:graphicFrame>
      <p:sp>
        <p:nvSpPr>
          <p:cNvPr id="6" name="TextBox 5"/>
          <p:cNvSpPr txBox="1"/>
          <p:nvPr/>
        </p:nvSpPr>
        <p:spPr>
          <a:xfrm>
            <a:off x="749808" y="5010912"/>
            <a:ext cx="7635240" cy="777240"/>
          </a:xfrm>
          <a:prstGeom prst="rect">
            <a:avLst/>
          </a:prstGeom>
          <a:noFill/>
        </p:spPr>
        <p:txBody>
          <a:bodyPr wrap="none">
            <a:spAutoFit/>
          </a:bodyPr>
          <a:lstStyle/>
          <a:p>
            <a:pPr algn="l">
              <a:defRPr sz="900">
                <a:solidFill>
                  <a:srgbClr val="1F2933"/>
                </a:solidFill>
              </a:defRPr>
            </a:pPr>
            <a:r>
              <a:t>Unit: XOF; values are not kWh and should be read as monetary savings.</a:t>
            </a:r>
          </a:p>
          <a:p>
            <a:pPr algn="l">
              <a:defRPr sz="900">
                <a:solidFill>
                  <a:srgbClr val="1F2933"/>
                </a:solidFill>
              </a:defRPr>
            </a:pPr>
            <a:r>
              <a:t>Grid + Diesel uses a blended current-cost baseline for displaced daytime energy.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A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3" name="TextBox 2"/>
          <p:cNvSpPr txBox="1"/>
          <p:nvPr/>
        </p:nvSpPr>
        <p:spPr>
          <a:xfrm>
            <a:off x="502920" y="320040"/>
            <a:ext cx="8321040" cy="502920"/>
          </a:xfrm>
          <a:prstGeom prst="rect">
            <a:avLst/>
          </a:prstGeom>
          <a:noFill/>
        </p:spPr>
        <p:txBody>
          <a:bodyPr wrap="none">
            <a:spAutoFit/>
          </a:bodyPr>
          <a:lstStyle/>
          <a:p>
            <a:pPr algn="l"/>
            <a:r>
              <a:rPr sz="2400" b="1">
                <a:solidFill>
                  <a:srgbClr val="173B33"/>
                </a:solidFill>
              </a:rPr>
              <a:t>Market Context &amp; Proposal Basis</a:t>
            </a:r>
          </a:p>
        </p:txBody>
      </p:sp>
      <p:sp>
        <p:nvSpPr>
          <p:cNvPr id="4" name="TextBox 3"/>
          <p:cNvSpPr txBox="1"/>
          <p:nvPr/>
        </p:nvSpPr>
        <p:spPr>
          <a:xfrm>
            <a:off x="658368" y="1234440"/>
            <a:ext cx="7818120" cy="2057400"/>
          </a:xfrm>
          <a:prstGeom prst="rect">
            <a:avLst/>
          </a:prstGeom>
          <a:noFill/>
        </p:spPr>
        <p:txBody>
          <a:bodyPr wrap="none">
            <a:spAutoFit/>
          </a:bodyPr>
          <a:lstStyle/>
          <a:p>
            <a:pPr algn="l">
              <a:defRPr sz="1200">
                <a:solidFill>
                  <a:srgbClr val="1F2933"/>
                </a:solidFill>
              </a:defRPr>
            </a:pPr>
            <a:r>
              <a:t>Cote d'Ivoire context: ICCO is located in Abidjan, reinforcing the country's role in the cocoa economy.</a:t>
            </a:r>
          </a:p>
          <a:p>
            <a:pPr algn="l">
              <a:defRPr sz="1200">
                <a:solidFill>
                  <a:srgbClr val="1F2933"/>
                </a:solidFill>
              </a:defRPr>
            </a:pPr>
            <a:r>
              <a:t>Food and cocoa processing can include roasting, grinding, pressing, cooling, packaging, and process utility loads.</a:t>
            </a:r>
          </a:p>
          <a:p>
            <a:pPr algn="l">
              <a:defRPr sz="1200">
                <a:solidFill>
                  <a:srgbClr val="1F2933"/>
                </a:solidFill>
              </a:defRPr>
            </a:pPr>
            <a:r>
              <a:t>World Bank Global Solar Atlas is useful for preliminary solar-resource screening; final production remains site-specific.</a:t>
            </a:r>
          </a:p>
          <a:p>
            <a:pPr algn="l">
              <a:defRPr sz="1200">
                <a:solidFill>
                  <a:srgbClr val="1F2933"/>
                </a:solidFill>
              </a:defRPr>
            </a:pPr>
            <a:r>
              <a:t>Client-specific values in this deck come from uploaded bills, site reports, and offer documents rather than public web data.</a:t>
            </a:r>
          </a:p>
        </p:txBody>
      </p:sp>
      <p:sp>
        <p:nvSpPr>
          <p:cNvPr id="5" name="TextBox 4"/>
          <p:cNvSpPr txBox="1"/>
          <p:nvPr/>
        </p:nvSpPr>
        <p:spPr>
          <a:xfrm>
            <a:off x="658368" y="3703320"/>
            <a:ext cx="7863840" cy="502920"/>
          </a:xfrm>
          <a:prstGeom prst="rect">
            <a:avLst/>
          </a:prstGeom>
          <a:noFill/>
        </p:spPr>
        <p:txBody>
          <a:bodyPr wrap="square">
            <a:spAutoFit/>
          </a:bodyPr>
          <a:lstStyle/>
          <a:p>
            <a:pPr algn="l"/>
            <a:r>
              <a:rPr sz="900">
                <a:solidFill>
                  <a:srgbClr val="1F2933"/>
                </a:solidFill>
              </a:rPr>
              <a:t>Source notes: Client documents; ICCO; World Bank Global Solar Atlas.</a:t>
            </a:r>
          </a:p>
        </p:txBody>
      </p:sp>
      <p:sp>
        <p:nvSpPr>
          <p:cNvPr id="6" name="TextBox 5"/>
          <p:cNvSpPr txBox="1"/>
          <p:nvPr/>
        </p:nvSpPr>
        <p:spPr>
          <a:xfrm>
            <a:off x="658368" y="4315968"/>
            <a:ext cx="7818120" cy="1005840"/>
          </a:xfrm>
          <a:prstGeom prst="rect">
            <a:avLst/>
          </a:prstGeom>
          <a:noFill/>
        </p:spPr>
        <p:txBody>
          <a:bodyPr wrap="none">
            <a:spAutoFit/>
          </a:bodyPr>
          <a:lstStyle/>
          <a:p>
            <a:pPr algn="l">
              <a:defRPr sz="900">
                <a:solidFill>
                  <a:srgbClr val="1F2933"/>
                </a:solidFill>
              </a:defRPr>
            </a:pPr>
            <a:r>
              <a:t>Client activity: Cocoa and food-processing operation with production, packaging, and utility loads.</a:t>
            </a:r>
          </a:p>
          <a:p>
            <a:pPr algn="l">
              <a:defRPr sz="900">
                <a:solidFill>
                  <a:srgbClr val="1F2933"/>
                </a:solidFill>
              </a:defRPr>
            </a:pPr>
            <a:r>
              <a:t>Industry: Food Processing</a:t>
            </a:r>
          </a:p>
          <a:p>
            <a:pPr algn="l">
              <a:defRPr sz="900">
                <a:solidFill>
                  <a:srgbClr val="1F2933"/>
                </a:solidFill>
              </a:defRPr>
            </a:pPr>
            <a:r>
              <a:t>Country: Cote d'Ivoire</a:t>
            </a:r>
          </a:p>
          <a:p>
            <a:pPr algn="l">
              <a:defRPr sz="900">
                <a:solidFill>
                  <a:srgbClr val="1F2933"/>
                </a:solidFill>
              </a:defRPr>
            </a:pPr>
            <a:r>
              <a:t>Diesel generators: confirmed</a:t>
            </a:r>
          </a:p>
          <a:p>
            <a:pPr algn="l">
              <a:defRPr sz="900">
                <a:solidFill>
                  <a:srgbClr val="1F2933"/>
                </a:solidFill>
              </a:defRPr>
            </a:pPr>
            <a:r>
              <a:t>Site location: Abidjan / Port-Bouet</a:t>
            </a:r>
          </a:p>
          <a:p>
            <a:pPr algn="l">
              <a:defRPr sz="900">
                <a:solidFill>
                  <a:srgbClr val="1F2933"/>
                </a:solidFill>
              </a:defRPr>
            </a:pPr>
            <a:r>
              <a:t>Grid connection capacity: 1,250 kVA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A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3" name="TextBox 2"/>
          <p:cNvSpPr txBox="1"/>
          <p:nvPr/>
        </p:nvSpPr>
        <p:spPr>
          <a:xfrm>
            <a:off x="502920" y="320040"/>
            <a:ext cx="8321040" cy="502920"/>
          </a:xfrm>
          <a:prstGeom prst="rect">
            <a:avLst/>
          </a:prstGeom>
          <a:noFill/>
        </p:spPr>
        <p:txBody>
          <a:bodyPr wrap="none">
            <a:spAutoFit/>
          </a:bodyPr>
          <a:lstStyle/>
          <a:p>
            <a:pPr algn="l"/>
            <a:r>
              <a:rPr sz="2400" b="1">
                <a:solidFill>
                  <a:srgbClr val="173B33"/>
                </a:solidFill>
              </a:rPr>
              <a:t>Delivery Plan &amp; Next Steps</a:t>
            </a:r>
          </a:p>
        </p:txBody>
      </p:sp>
      <p:sp>
        <p:nvSpPr>
          <p:cNvPr id="4" name="TextBox 3"/>
          <p:cNvSpPr txBox="1"/>
          <p:nvPr/>
        </p:nvSpPr>
        <p:spPr>
          <a:xfrm>
            <a:off x="640080" y="1170432"/>
            <a:ext cx="2377440" cy="256032"/>
          </a:xfrm>
          <a:prstGeom prst="rect">
            <a:avLst/>
          </a:prstGeom>
          <a:noFill/>
        </p:spPr>
        <p:txBody>
          <a:bodyPr wrap="none">
            <a:spAutoFit/>
          </a:bodyPr>
          <a:lstStyle/>
          <a:p>
            <a:pPr algn="l"/>
            <a:r>
              <a:rPr sz="1000" b="1">
                <a:solidFill>
                  <a:srgbClr val="173B33"/>
                </a:solidFill>
              </a:rPr>
              <a:t>Aspan scope</a:t>
            </a:r>
          </a:p>
        </p:txBody>
      </p:sp>
      <p:sp>
        <p:nvSpPr>
          <p:cNvPr id="5" name="TextBox 4"/>
          <p:cNvSpPr txBox="1"/>
          <p:nvPr/>
        </p:nvSpPr>
        <p:spPr>
          <a:xfrm>
            <a:off x="640080" y="1536192"/>
            <a:ext cx="2423160" cy="3291840"/>
          </a:xfrm>
          <a:prstGeom prst="rect">
            <a:avLst/>
          </a:prstGeom>
          <a:noFill/>
        </p:spPr>
        <p:txBody>
          <a:bodyPr wrap="none">
            <a:spAutoFit/>
          </a:bodyPr>
          <a:lstStyle/>
          <a:p>
            <a:pPr algn="l">
              <a:defRPr sz="1000">
                <a:solidFill>
                  <a:srgbClr val="1F2933"/>
                </a:solidFill>
              </a:defRPr>
            </a:pPr>
            <a:r>
              <a:t>Review customer energy data, monthly bills, tariff structure, diesel assumptions, and site information</a:t>
            </a:r>
          </a:p>
          <a:p>
            <a:pPr algn="l">
              <a:defRPr sz="1000">
                <a:solidFill>
                  <a:srgbClr val="1F2933"/>
                </a:solidFill>
              </a:defRPr>
            </a:pPr>
            <a:r>
              <a:t>coordinate site assessment inputs</a:t>
            </a:r>
          </a:p>
          <a:p>
            <a:pPr algn="l">
              <a:defRPr sz="1000">
                <a:solidFill>
                  <a:srgbClr val="1F2933"/>
                </a:solidFill>
              </a:defRPr>
            </a:pPr>
            <a:r>
              <a:t>refine PV sizing and savings analysis</a:t>
            </a:r>
          </a:p>
          <a:p>
            <a:pPr algn="l">
              <a:defRPr sz="1000">
                <a:solidFill>
                  <a:srgbClr val="1F2933"/>
                </a:solidFill>
              </a:defRPr>
            </a:pPr>
            <a:r>
              <a:t>prepare a detailed commercial proposal for review</a:t>
            </a:r>
          </a:p>
        </p:txBody>
      </p:sp>
      <p:sp>
        <p:nvSpPr>
          <p:cNvPr id="6" name="TextBox 5"/>
          <p:cNvSpPr txBox="1"/>
          <p:nvPr/>
        </p:nvSpPr>
        <p:spPr>
          <a:xfrm>
            <a:off x="3337560" y="1170432"/>
            <a:ext cx="2423160" cy="256032"/>
          </a:xfrm>
          <a:prstGeom prst="rect">
            <a:avLst/>
          </a:prstGeom>
          <a:noFill/>
        </p:spPr>
        <p:txBody>
          <a:bodyPr wrap="none">
            <a:spAutoFit/>
          </a:bodyPr>
          <a:lstStyle/>
          <a:p>
            <a:pPr algn="l"/>
            <a:r>
              <a:rPr sz="1000" b="1">
                <a:solidFill>
                  <a:srgbClr val="173B33"/>
                </a:solidFill>
              </a:rPr>
              <a:t>Review process</a:t>
            </a:r>
          </a:p>
        </p:txBody>
      </p:sp>
      <p:sp>
        <p:nvSpPr>
          <p:cNvPr id="7" name="TextBox 6"/>
          <p:cNvSpPr txBox="1"/>
          <p:nvPr/>
        </p:nvSpPr>
        <p:spPr>
          <a:xfrm>
            <a:off x="3337560" y="1536192"/>
            <a:ext cx="2423160" cy="3291840"/>
          </a:xfrm>
          <a:prstGeom prst="rect">
            <a:avLst/>
          </a:prstGeom>
          <a:noFill/>
        </p:spPr>
        <p:txBody>
          <a:bodyPr wrap="none">
            <a:spAutoFit/>
          </a:bodyPr>
          <a:lstStyle/>
          <a:p>
            <a:pPr algn="l">
              <a:defRPr sz="1000">
                <a:solidFill>
                  <a:srgbClr val="1F2933"/>
                </a:solidFill>
              </a:defRPr>
            </a:pPr>
            <a:r>
              <a:t>Confirm utility bill and tariff assumptions</a:t>
            </a:r>
          </a:p>
          <a:p>
            <a:pPr algn="l">
              <a:defRPr sz="1000">
                <a:solidFill>
                  <a:srgbClr val="1F2933"/>
                </a:solidFill>
              </a:defRPr>
            </a:pPr>
            <a:r>
              <a:t>validate roof area, layout constraints, and grid connection information</a:t>
            </a:r>
          </a:p>
          <a:p>
            <a:pPr algn="l">
              <a:defRPr sz="1000">
                <a:solidFill>
                  <a:srgbClr val="1F2933"/>
                </a:solidFill>
              </a:defRPr>
            </a:pPr>
            <a:r>
              <a:t>complete technical feasibility and commercial review</a:t>
            </a:r>
          </a:p>
          <a:p>
            <a:pPr algn="l">
              <a:defRPr sz="1000">
                <a:solidFill>
                  <a:srgbClr val="1F2933"/>
                </a:solidFill>
              </a:defRPr>
            </a:pPr>
            <a:r>
              <a:t>prepare detailed proposal and implementation plan</a:t>
            </a:r>
          </a:p>
        </p:txBody>
      </p:sp>
      <p:sp>
        <p:nvSpPr>
          <p:cNvPr id="8" name="TextBox 7"/>
          <p:cNvSpPr txBox="1"/>
          <p:nvPr/>
        </p:nvSpPr>
        <p:spPr>
          <a:xfrm>
            <a:off x="5989320" y="1170432"/>
            <a:ext cx="2423160" cy="256032"/>
          </a:xfrm>
          <a:prstGeom prst="rect">
            <a:avLst/>
          </a:prstGeom>
          <a:noFill/>
        </p:spPr>
        <p:txBody>
          <a:bodyPr wrap="none">
            <a:spAutoFit/>
          </a:bodyPr>
          <a:lstStyle/>
          <a:p>
            <a:pPr algn="l"/>
            <a:r>
              <a:rPr sz="1000" b="1">
                <a:solidFill>
                  <a:srgbClr val="173B33"/>
                </a:solidFill>
              </a:rPr>
              <a:t>Immediate next steps</a:t>
            </a:r>
          </a:p>
        </p:txBody>
      </p:sp>
      <p:sp>
        <p:nvSpPr>
          <p:cNvPr id="9" name="TextBox 8"/>
          <p:cNvSpPr txBox="1"/>
          <p:nvPr/>
        </p:nvSpPr>
        <p:spPr>
          <a:xfrm>
            <a:off x="5989320" y="1536192"/>
            <a:ext cx="2514600" cy="3291840"/>
          </a:xfrm>
          <a:prstGeom prst="rect">
            <a:avLst/>
          </a:prstGeom>
          <a:noFill/>
        </p:spPr>
        <p:txBody>
          <a:bodyPr wrap="none">
            <a:spAutoFit/>
          </a:bodyPr>
          <a:lstStyle/>
          <a:p>
            <a:pPr algn="l">
              <a:defRPr sz="1000">
                <a:solidFill>
                  <a:srgbClr val="1F2933"/>
                </a:solidFill>
              </a:defRPr>
            </a:pPr>
            <a:r>
              <a:t>Confirm the extracted assumptions</a:t>
            </a:r>
          </a:p>
          <a:p>
            <a:pPr algn="l">
              <a:defRPr sz="1000">
                <a:solidFill>
                  <a:srgbClr val="1F2933"/>
                </a:solidFill>
              </a:defRPr>
            </a:pPr>
            <a:r>
              <a:t>validate roof area and site constraints</a:t>
            </a:r>
          </a:p>
          <a:p>
            <a:pPr algn="l">
              <a:defRPr sz="1000">
                <a:solidFill>
                  <a:srgbClr val="1F2933"/>
                </a:solidFill>
              </a:defRPr>
            </a:pPr>
            <a:r>
              <a:t>confirm tariff, diesel, and PPA tariff inputs</a:t>
            </a:r>
          </a:p>
          <a:p>
            <a:pPr algn="l">
              <a:defRPr sz="1000">
                <a:solidFill>
                  <a:srgbClr val="1F2933"/>
                </a:solidFill>
              </a:defRPr>
            </a:pPr>
            <a:r>
              <a:t>proceed to detailed proposal after Aspan commercial review</a:t>
            </a:r>
          </a:p>
        </p:txBody>
      </p:sp>
      <p:sp>
        <p:nvSpPr>
          <p:cNvPr id="10" name="TextBox 9"/>
          <p:cNvSpPr txBox="1"/>
          <p:nvPr/>
        </p:nvSpPr>
        <p:spPr>
          <a:xfrm>
            <a:off x="658368" y="5074920"/>
            <a:ext cx="7818120" cy="594360"/>
          </a:xfrm>
          <a:prstGeom prst="rect">
            <a:avLst/>
          </a:prstGeom>
          <a:noFill/>
        </p:spPr>
        <p:txBody>
          <a:bodyPr wrap="square">
            <a:spAutoFit/>
          </a:bodyPr>
          <a:lstStyle/>
          <a:p>
            <a:pPr algn="l"/>
            <a:r>
              <a:rPr sz="900">
                <a:solidFill>
                  <a:srgbClr val="1F2933"/>
                </a:solidFill>
              </a:rPr>
              <a:t>Final dates, responsibilities, contract terms, and performance obligations remain subject to Aspan and client confirmation.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A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3" name="TextBox 2"/>
          <p:cNvSpPr txBox="1"/>
          <p:nvPr/>
        </p:nvSpPr>
        <p:spPr>
          <a:xfrm>
            <a:off x="502920" y="320040"/>
            <a:ext cx="8321040" cy="502920"/>
          </a:xfrm>
          <a:prstGeom prst="rect">
            <a:avLst/>
          </a:prstGeom>
          <a:noFill/>
        </p:spPr>
        <p:txBody>
          <a:bodyPr wrap="none">
            <a:spAutoFit/>
          </a:bodyPr>
          <a:lstStyle/>
          <a:p>
            <a:pPr algn="l"/>
            <a:r>
              <a:rPr sz="2400" b="1">
                <a:solidFill>
                  <a:srgbClr val="173B33"/>
                </a:solidFill>
              </a:rPr>
              <a:t>Assumptions Appendix</a:t>
            </a:r>
          </a:p>
        </p:txBody>
      </p:sp>
      <p:sp>
        <p:nvSpPr>
          <p:cNvPr id="4" name="TextBox 3"/>
          <p:cNvSpPr txBox="1"/>
          <p:nvPr/>
        </p:nvSpPr>
        <p:spPr>
          <a:xfrm>
            <a:off x="548640" y="1078992"/>
            <a:ext cx="8138160" cy="4343400"/>
          </a:xfrm>
          <a:prstGeom prst="rect">
            <a:avLst/>
          </a:prstGeom>
          <a:noFill/>
        </p:spPr>
        <p:txBody>
          <a:bodyPr wrap="none">
            <a:spAutoFit/>
          </a:bodyPr>
          <a:lstStyle/>
          <a:p>
            <a:pPr algn="l">
              <a:defRPr sz="900">
                <a:solidFill>
                  <a:srgbClr val="1F2933"/>
                </a:solidFill>
              </a:defRPr>
            </a:pPr>
            <a:r>
              <a:t>Monthly kWh: 233,633</a:t>
            </a:r>
          </a:p>
          <a:p>
            <a:pPr algn="l">
              <a:defRPr sz="900">
                <a:solidFill>
                  <a:srgbClr val="1F2933"/>
                </a:solidFill>
              </a:defRPr>
            </a:pPr>
            <a:r>
              <a:t>Daytime fraction: 0.75</a:t>
            </a:r>
          </a:p>
          <a:p>
            <a:pPr algn="l">
              <a:defRPr sz="900">
                <a:solidFill>
                  <a:srgbClr val="1F2933"/>
                </a:solidFill>
              </a:defRPr>
            </a:pPr>
            <a:r>
              <a:t>Roof area: 5,149 m2</a:t>
            </a:r>
          </a:p>
          <a:p>
            <a:pPr algn="l">
              <a:defRPr sz="900">
                <a:solidFill>
                  <a:srgbClr val="1F2933"/>
                </a:solidFill>
              </a:defRPr>
            </a:pPr>
            <a:r>
              <a:t>Grid capacity: 1,250 kVA</a:t>
            </a:r>
          </a:p>
          <a:p>
            <a:pPr algn="l">
              <a:defRPr sz="900">
                <a:solidFill>
                  <a:srgbClr val="1F2933"/>
                </a:solidFill>
              </a:defRPr>
            </a:pPr>
            <a:r>
              <a:t>Recommended kWp: 772.4 kWp</a:t>
            </a:r>
          </a:p>
          <a:p>
            <a:pPr algn="l">
              <a:defRPr sz="900">
                <a:solidFill>
                  <a:srgbClr val="1F2933"/>
                </a:solidFill>
              </a:defRPr>
            </a:pPr>
            <a:r>
              <a:t>PPA tariff: XOF 67.100 per kWh</a:t>
            </a:r>
          </a:p>
          <a:p>
            <a:pPr algn="l">
              <a:defRPr sz="900">
                <a:solidFill>
                  <a:srgbClr val="1F2933"/>
                </a:solidFill>
              </a:defRPr>
            </a:pPr>
            <a:r>
              <a:t>Grid tariff: XOF 75.078 per kWh</a:t>
            </a:r>
          </a:p>
          <a:p>
            <a:pPr algn="l">
              <a:defRPr sz="900">
                <a:solidFill>
                  <a:srgbClr val="1F2933"/>
                </a:solidFill>
              </a:defRPr>
            </a:pPr>
            <a:r>
              <a:t>Tariff basis: kwh weighted average across uploaded bills</a:t>
            </a:r>
          </a:p>
          <a:p>
            <a:pPr algn="l">
              <a:defRPr sz="900">
                <a:solidFill>
                  <a:srgbClr val="1F2933"/>
                </a:solidFill>
              </a:defRPr>
            </a:pPr>
            <a:r>
              <a:t>Active energy charge: XOF 17,531,792</a:t>
            </a:r>
          </a:p>
          <a:p>
            <a:pPr algn="l">
              <a:defRPr sz="900">
                <a:solidFill>
                  <a:srgbClr val="1F2933"/>
                </a:solidFill>
              </a:defRPr>
            </a:pPr>
            <a:r>
              <a:t>Penalties: XOF 2,860,036</a:t>
            </a:r>
          </a:p>
          <a:p>
            <a:pPr algn="l">
              <a:defRPr sz="900">
                <a:solidFill>
                  <a:srgbClr val="1F2933"/>
                </a:solidFill>
              </a:defRPr>
            </a:pPr>
            <a:r>
              <a:t>Diesel price: XOF 700.00 per liter</a:t>
            </a:r>
          </a:p>
          <a:p>
            <a:pPr algn="l">
              <a:defRPr sz="900">
                <a:solidFill>
                  <a:srgbClr val="1F2933"/>
                </a:solidFill>
              </a:defRPr>
            </a:pPr>
            <a:r>
              <a:t>Diesel kWh per liter: 3.50</a:t>
            </a:r>
          </a:p>
          <a:p>
            <a:pPr algn="l">
              <a:defRPr sz="900">
                <a:solidFill>
                  <a:srgbClr val="1F2933"/>
                </a:solidFill>
              </a:defRPr>
            </a:pPr>
            <a:r>
              <a:t>Performance ratio: 0.80</a:t>
            </a:r>
          </a:p>
          <a:p>
            <a:pPr algn="l">
              <a:defRPr sz="900">
                <a:solidFill>
                  <a:srgbClr val="1F2933"/>
                </a:solidFill>
              </a:defRPr>
            </a:pPr>
            <a:r>
              <a:t>Panel degradation rate: 0.005</a:t>
            </a:r>
          </a:p>
          <a:p>
            <a:pPr algn="l">
              <a:defRPr sz="900">
                <a:solidFill>
                  <a:srgbClr val="1F2933"/>
                </a:solidFill>
              </a:defRPr>
            </a:pPr>
            <a:r>
              <a:t>Tariff escalation rate: 0.03</a:t>
            </a:r>
          </a:p>
          <a:p>
            <a:pPr algn="l">
              <a:defRPr sz="900">
                <a:solidFill>
                  <a:srgbClr val="1F2933"/>
                </a:solidFill>
              </a:defRPr>
            </a:pPr>
            <a:r>
              <a:t>Analysis horizon: 15 years</a:t>
            </a:r>
          </a:p>
          <a:p>
            <a:pPr algn="l">
              <a:defRPr sz="900">
                <a:solidFill>
                  <a:srgbClr val="1F2933"/>
                </a:solidFill>
              </a:defRPr>
            </a:pPr>
            <a:r>
              <a:t>Production source: nasa_power_allsky_sfc_sw_dwn</a:t>
            </a:r>
          </a:p>
          <a:p>
            <a:pPr algn="l">
              <a:defRPr sz="900">
                <a:solidFill>
                  <a:srgbClr val="1F2933"/>
                </a:solidFill>
              </a:defRPr>
            </a:pPr>
            <a:r>
              <a:t>Reviewed from monthly CIE utility bills; final client-facing use should confirm invoice treatment, penalties, and excluded prior balances.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Aspan Energy placeholder proposal template</dc:title>
  <dc:subject>TODO: Replace with Aspan logo; TODO: Apply Aspan brand colors; TODO: Confirm fonts; TODO: Replace placeholder icons if needed</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