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Grid Replacement</c:v>
                </c:pt>
              </c:strCache>
            </c:strRef>
          </c:tx>
          <c:cat>
            <c:strRef>
              <c:f>Sheet1!$A$2:$A$3</c:f>
              <c:strCache>
                <c:ptCount val="2"/>
                <c:pt idx="0">
                  <c:v>Annual savings</c:v>
                </c:pt>
                <c:pt idx="1">
                  <c:v>15-year savings</c:v>
                </c:pt>
              </c:strCache>
            </c:strRef>
          </c:cat>
          <c:val>
            <c:numRef>
              <c:f>Sheet1!$B$2:$B$3</c:f>
              <c:numCache>
                <c:formatCode>General</c:formatCode>
                <c:ptCount val="2"/>
                <c:pt idx="0">
                  <c:v>8351727.98306114</c:v>
                </c:pt>
                <c:pt idx="1">
                  <c:v>390273992.35612756</c:v>
                </c:pt>
              </c:numCache>
            </c:numRef>
          </c:val>
        </c:ser>
        <c:ser>
          <c:idx val="1"/>
          <c:order val="1"/>
          <c:tx>
            <c:strRef>
              <c:f>Sheet1!$C$1</c:f>
              <c:strCache>
                <c:ptCount val="1"/>
                <c:pt idx="0">
                  <c:v>Grid + Diesel</c:v>
                </c:pt>
              </c:strCache>
            </c:strRef>
          </c:tx>
          <c:cat>
            <c:strRef>
              <c:f>Sheet1!$A$2:$A$3</c:f>
              <c:strCache>
                <c:ptCount val="2"/>
                <c:pt idx="0">
                  <c:v>Annual savings</c:v>
                </c:pt>
                <c:pt idx="1">
                  <c:v>15-year savings</c:v>
                </c:pt>
              </c:strCache>
            </c:strRef>
          </c:cat>
          <c:val>
            <c:numRef>
              <c:f>Sheet1!$C$2:$C$3</c:f>
              <c:numCache>
                <c:formatCode>General</c:formatCode>
                <c:ptCount val="2"/>
                <c:pt idx="0">
                  <c:v>73741669.220668</c:v>
                </c:pt>
                <c:pt idx="1">
                  <c:v>1561562381.4007776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94360" y="685800"/>
            <a:ext cx="7680960" cy="640080"/>
          </a:xfrm>
          <a:prstGeom prst="rect">
            <a:avLst/>
          </a:prstGeom>
          <a:noFill/>
        </p:spPr>
        <p:txBody>
          <a:bodyPr wrap="square">
            <a:spAutoFit/>
          </a:bodyPr>
          <a:lstStyle/>
          <a:p>
            <a:pPr algn="l"/>
            <a:r>
              <a:rPr sz="2800">
                <a:solidFill>
                  <a:srgbClr val="1F2933"/>
                </a:solidFill>
              </a:rPr>
              <a:t>Aspan Energy</a:t>
            </a:r>
          </a:p>
        </p:txBody>
      </p:sp>
      <p:sp>
        <p:nvSpPr>
          <p:cNvPr id="4" name="TextBox 3"/>
          <p:cNvSpPr txBox="1"/>
          <p:nvPr/>
        </p:nvSpPr>
        <p:spPr>
          <a:xfrm>
            <a:off x="621792" y="1261872"/>
            <a:ext cx="8046720" cy="365760"/>
          </a:xfrm>
          <a:prstGeom prst="rect">
            <a:avLst/>
          </a:prstGeom>
          <a:noFill/>
        </p:spPr>
        <p:txBody>
          <a:bodyPr wrap="square">
            <a:spAutoFit/>
          </a:bodyPr>
          <a:lstStyle/>
          <a:p>
            <a:pPr algn="l"/>
            <a:r>
              <a:rPr sz="1400">
                <a:solidFill>
                  <a:srgbClr val="1F2933"/>
                </a:solidFill>
              </a:rPr>
              <a:t>Editable solar PPA proposal</a:t>
            </a:r>
          </a:p>
        </p:txBody>
      </p:sp>
      <p:sp>
        <p:nvSpPr>
          <p:cNvPr id="5" name="TextBox 4"/>
          <p:cNvSpPr txBox="1"/>
          <p:nvPr/>
        </p:nvSpPr>
        <p:spPr>
          <a:xfrm>
            <a:off x="621792" y="2057400"/>
            <a:ext cx="7132320" cy="1554480"/>
          </a:xfrm>
          <a:prstGeom prst="rect">
            <a:avLst/>
          </a:prstGeom>
          <a:noFill/>
        </p:spPr>
        <p:txBody>
          <a:bodyPr wrap="square">
            <a:spAutoFit/>
          </a:bodyPr>
          <a:lstStyle/>
          <a:p>
            <a:pPr algn="l"/>
            <a:r>
              <a:rPr sz="2000">
                <a:solidFill>
                  <a:srgbClr val="1F2933"/>
                </a:solidFill>
              </a:rPr>
              <a:t>NESKAO</a:t>
            </a:r>
          </a:p>
          <a:p>
            <a:pPr algn="l"/>
            <a:r>
              <a:rPr sz="2000">
                <a:solidFill>
                  <a:srgbClr val="1F2933"/>
                </a:solidFill>
              </a:rPr>
              <a:t>Cote d'Ivoire | Food Processing</a:t>
            </a:r>
          </a:p>
          <a:p>
            <a:pPr algn="l"/>
            <a:r>
              <a:rPr sz="2000">
                <a:solidFill>
                  <a:srgbClr val="1F2933"/>
                </a:solidFill>
              </a:rPr>
              <a:t>Proposal date: 2026-06-20</a:t>
            </a:r>
          </a:p>
        </p:txBody>
      </p:sp>
      <p:sp>
        <p:nvSpPr>
          <p:cNvPr id="6" name="TextBox 5"/>
          <p:cNvSpPr txBox="1"/>
          <p:nvPr/>
        </p:nvSpPr>
        <p:spPr>
          <a:xfrm>
            <a:off x="658368" y="4846320"/>
            <a:ext cx="7772400" cy="731520"/>
          </a:xfrm>
          <a:prstGeom prst="rect">
            <a:avLst/>
          </a:prstGeom>
          <a:noFill/>
        </p:spPr>
        <p:txBody>
          <a:bodyPr wrap="none">
            <a:spAutoFit/>
          </a:bodyPr>
          <a:lstStyle/>
          <a:p>
            <a:pPr algn="l">
              <a:defRPr sz="900">
                <a:solidFill>
                  <a:srgbClr val="1F2933"/>
                </a:solidFill>
              </a:defRPr>
            </a:pPr>
            <a:r>
              <a:t>TODO: Replace with Aspan logo</a:t>
            </a:r>
          </a:p>
          <a:p>
            <a:pPr algn="l">
              <a:defRPr sz="900">
                <a:solidFill>
                  <a:srgbClr val="1F2933"/>
                </a:solidFill>
              </a:defRPr>
            </a:pPr>
            <a:r>
              <a:t>TODO: Apply Aspan brand colors</a:t>
            </a:r>
          </a:p>
          <a:p>
            <a:pPr algn="l">
              <a:defRPr sz="900">
                <a:solidFill>
                  <a:srgbClr val="1F2933"/>
                </a:solidFill>
              </a:defRPr>
            </a:pPr>
            <a:r>
              <a:t>TODO: Confirm fonts and icons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Executive Summary</a:t>
            </a:r>
          </a:p>
        </p:txBody>
      </p:sp>
      <p:sp>
        <p:nvSpPr>
          <p:cNvPr id="4" name="Rectangle 3"/>
          <p:cNvSpPr/>
          <p:nvPr/>
        </p:nvSpPr>
        <p:spPr>
          <a:xfrm>
            <a:off x="59436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PV SIZE</a:t>
            </a:r>
          </a:p>
          <a:p>
            <a:pPr algn="l">
              <a:defRPr sz="1500" b="1">
                <a:solidFill>
                  <a:srgbClr val="173B33"/>
                </a:solidFill>
              </a:defRPr>
            </a:pPr>
            <a:r>
              <a:t>772.4 kWp</a:t>
            </a:r>
          </a:p>
        </p:txBody>
      </p:sp>
      <p:sp>
        <p:nvSpPr>
          <p:cNvPr id="5" name="Rectangle 4"/>
          <p:cNvSpPr/>
          <p:nvPr/>
        </p:nvSpPr>
        <p:spPr>
          <a:xfrm>
            <a:off x="269748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ANNUAL PRODUCTION</a:t>
            </a:r>
          </a:p>
          <a:p>
            <a:pPr algn="l">
              <a:defRPr sz="1500" b="1">
                <a:solidFill>
                  <a:srgbClr val="173B33"/>
                </a:solidFill>
              </a:defRPr>
            </a:pPr>
            <a:r>
              <a:t>1,046,889 kWh</a:t>
            </a:r>
          </a:p>
        </p:txBody>
      </p:sp>
      <p:sp>
        <p:nvSpPr>
          <p:cNvPr id="6" name="Rectangle 5"/>
          <p:cNvSpPr/>
          <p:nvPr/>
        </p:nvSpPr>
        <p:spPr>
          <a:xfrm>
            <a:off x="480060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GRID ANNUAL SAVINGS</a:t>
            </a:r>
          </a:p>
          <a:p>
            <a:pPr algn="l">
              <a:defRPr sz="1500" b="1">
                <a:solidFill>
                  <a:srgbClr val="173B33"/>
                </a:solidFill>
              </a:defRPr>
            </a:pPr>
            <a:r>
              <a:t>XOF 8,351,728</a:t>
            </a:r>
          </a:p>
        </p:txBody>
      </p:sp>
      <p:sp>
        <p:nvSpPr>
          <p:cNvPr id="7" name="Rectangle 6"/>
          <p:cNvSpPr/>
          <p:nvPr/>
        </p:nvSpPr>
        <p:spPr>
          <a:xfrm>
            <a:off x="690372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700">
                <a:solidFill>
                  <a:srgbClr val="6B7280"/>
                </a:solidFill>
              </a:defRPr>
            </a:pPr>
            <a:r>
              <a:t>DIESEL ANNUAL SAVINGS</a:t>
            </a:r>
          </a:p>
          <a:p>
            <a:pPr algn="l">
              <a:defRPr sz="1500" b="1">
                <a:solidFill>
                  <a:srgbClr val="173B33"/>
                </a:solidFill>
              </a:defRPr>
            </a:pPr>
            <a:r>
              <a:t>XOF 73,741,669</a:t>
            </a:r>
          </a:p>
        </p:txBody>
      </p:sp>
      <p:sp>
        <p:nvSpPr>
          <p:cNvPr id="8" name="TextBox 7"/>
          <p:cNvSpPr txBox="1"/>
          <p:nvPr/>
        </p:nvSpPr>
        <p:spPr>
          <a:xfrm>
            <a:off x="658368" y="2240280"/>
            <a:ext cx="7863840" cy="1325880"/>
          </a:xfrm>
          <a:prstGeom prst="rect">
            <a:avLst/>
          </a:prstGeom>
          <a:noFill/>
        </p:spPr>
        <p:txBody>
          <a:bodyPr wrap="square">
            <a:spAutoFit/>
          </a:bodyPr>
          <a:lstStyle/>
          <a:p>
            <a:pPr algn="l"/>
            <a:r>
              <a:rPr sz="1300">
                <a:solidFill>
                  <a:srgbClr val="1F2933"/>
                </a:solidFill>
              </a:rPr>
              <a:t>Aspan Energy proposes a 772.4 kWp solar PPA solution for NESKAO.</a:t>
            </a:r>
          </a:p>
        </p:txBody>
      </p:sp>
      <p:sp>
        <p:nvSpPr>
          <p:cNvPr id="9" name="TextBox 8"/>
          <p:cNvSpPr txBox="1"/>
          <p:nvPr/>
        </p:nvSpPr>
        <p:spPr>
          <a:xfrm>
            <a:off x="658368" y="3794760"/>
            <a:ext cx="8046720" cy="1005840"/>
          </a:xfrm>
          <a:prstGeom prst="rect">
            <a:avLst/>
          </a:prstGeom>
          <a:noFill/>
        </p:spPr>
        <p:txBody>
          <a:bodyPr wrap="none">
            <a:spAutoFit/>
          </a:bodyPr>
          <a:lstStyle/>
          <a:p>
            <a:pPr algn="l">
              <a:defRPr sz="1200">
                <a:solidFill>
                  <a:srgbClr val="1F2933"/>
                </a:solidFill>
              </a:defRPr>
            </a:pPr>
            <a:r>
              <a:t>Grid Replacement cumulative savings: XOF 390,273,992</a:t>
            </a:r>
          </a:p>
          <a:p>
            <a:pPr algn="l">
              <a:defRPr sz="1200">
                <a:solidFill>
                  <a:srgbClr val="1F2933"/>
                </a:solidFill>
              </a:defRPr>
            </a:pPr>
            <a:r>
              <a:t>Grid + Diesel cumulative savings: XOF 1,561,562,381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Current Energy Situation</a:t>
            </a:r>
          </a:p>
        </p:txBody>
      </p:sp>
      <p:sp>
        <p:nvSpPr>
          <p:cNvPr id="4" name="TextBox 3"/>
          <p:cNvSpPr txBox="1"/>
          <p:nvPr/>
        </p:nvSpPr>
        <p:spPr>
          <a:xfrm>
            <a:off x="640080" y="1234440"/>
            <a:ext cx="3749039" cy="2103120"/>
          </a:xfrm>
          <a:prstGeom prst="rect">
            <a:avLst/>
          </a:prstGeom>
          <a:noFill/>
        </p:spPr>
        <p:txBody>
          <a:bodyPr wrap="none">
            <a:spAutoFit/>
          </a:bodyPr>
          <a:lstStyle/>
          <a:p>
            <a:pPr algn="l">
              <a:defRPr sz="1200">
                <a:solidFill>
                  <a:srgbClr val="1F2933"/>
                </a:solidFill>
              </a:defRPr>
            </a:pPr>
            <a:r>
              <a:t>Monthly consumption: 233,633 kWh</a:t>
            </a:r>
          </a:p>
          <a:p>
            <a:pPr algn="l">
              <a:defRPr sz="1200">
                <a:solidFill>
                  <a:srgbClr val="1F2933"/>
                </a:solidFill>
              </a:defRPr>
            </a:pPr>
            <a:r>
              <a:t>Monthly electricity cost: XOF 23,546,304</a:t>
            </a:r>
          </a:p>
          <a:p>
            <a:pPr algn="l">
              <a:defRPr sz="1200">
                <a:solidFill>
                  <a:srgbClr val="1F2933"/>
                </a:solidFill>
              </a:defRPr>
            </a:pPr>
            <a:r>
              <a:t>Grid tariff: XOF 75.078 per kWh</a:t>
            </a:r>
          </a:p>
          <a:p>
            <a:pPr algn="l">
              <a:defRPr sz="1200">
                <a:solidFill>
                  <a:srgbClr val="1F2933"/>
                </a:solidFill>
              </a:defRPr>
            </a:pPr>
            <a:r>
              <a:t>Tariff basis: kwh weighted average across uploaded bills</a:t>
            </a:r>
          </a:p>
          <a:p>
            <a:pPr algn="l">
              <a:defRPr sz="1200">
                <a:solidFill>
                  <a:srgbClr val="1F2933"/>
                </a:solidFill>
              </a:defRPr>
            </a:pPr>
            <a:r>
              <a:t>Diesel generators: Yes</a:t>
            </a:r>
          </a:p>
          <a:p>
            <a:pPr algn="l">
              <a:defRPr sz="1200">
                <a:solidFill>
                  <a:srgbClr val="1F2933"/>
                </a:solidFill>
              </a:defRPr>
            </a:pPr>
            <a:r>
              <a:t>Penalties: XOF 2,860,036</a:t>
            </a:r>
          </a:p>
        </p:txBody>
      </p:sp>
      <p:sp>
        <p:nvSpPr>
          <p:cNvPr id="5" name="TextBox 4"/>
          <p:cNvSpPr txBox="1"/>
          <p:nvPr/>
        </p:nvSpPr>
        <p:spPr>
          <a:xfrm>
            <a:off x="4617720" y="1234440"/>
            <a:ext cx="3840480" cy="2560320"/>
          </a:xfrm>
          <a:prstGeom prst="rect">
            <a:avLst/>
          </a:prstGeom>
          <a:noFill/>
        </p:spPr>
        <p:txBody>
          <a:bodyPr wrap="square">
            <a:spAutoFit/>
          </a:bodyPr>
          <a:lstStyle/>
          <a:p>
            <a:pPr algn="l"/>
            <a:r>
              <a:rPr sz="1300">
                <a:solidFill>
                  <a:srgbClr val="1F2933"/>
                </a:solidFill>
              </a:rPr>
              <a:t>Details to be confirmed by Aspan Energy.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Proposed Solar Solution</a:t>
            </a:r>
          </a:p>
        </p:txBody>
      </p:sp>
      <p:sp>
        <p:nvSpPr>
          <p:cNvPr id="4" name="TextBox 3"/>
          <p:cNvSpPr txBox="1"/>
          <p:nvPr/>
        </p:nvSpPr>
        <p:spPr>
          <a:xfrm>
            <a:off x="640080" y="1234440"/>
            <a:ext cx="3931920" cy="2377440"/>
          </a:xfrm>
          <a:prstGeom prst="rect">
            <a:avLst/>
          </a:prstGeom>
          <a:noFill/>
        </p:spPr>
        <p:txBody>
          <a:bodyPr wrap="none">
            <a:spAutoFit/>
          </a:bodyPr>
          <a:lstStyle/>
          <a:p>
            <a:pPr algn="l">
              <a:defRPr sz="1200">
                <a:solidFill>
                  <a:srgbClr val="1F2933"/>
                </a:solidFill>
              </a:defRPr>
            </a:pPr>
            <a:r>
              <a:t>Recommended size: 772.4 kWp</a:t>
            </a:r>
          </a:p>
          <a:p>
            <a:pPr algn="l">
              <a:defRPr sz="1200">
                <a:solidFill>
                  <a:srgbClr val="1F2933"/>
                </a:solidFill>
              </a:defRPr>
            </a:pPr>
            <a:r>
              <a:t>Binding constraint: roof</a:t>
            </a:r>
          </a:p>
          <a:p>
            <a:pPr algn="l">
              <a:defRPr sz="1200">
                <a:solidFill>
                  <a:srgbClr val="1F2933"/>
                </a:solidFill>
              </a:defRPr>
            </a:pPr>
            <a:r>
              <a:t>Estimated annual production: 1,046,889 kWh</a:t>
            </a:r>
          </a:p>
          <a:p>
            <a:pPr algn="l">
              <a:defRPr sz="1200">
                <a:solidFill>
                  <a:srgbClr val="1F2933"/>
                </a:solidFill>
              </a:defRPr>
            </a:pPr>
            <a:r>
              <a:t>Daytime consumption offset cap: 2,102,700 kWh</a:t>
            </a:r>
          </a:p>
        </p:txBody>
      </p:sp>
      <p:sp>
        <p:nvSpPr>
          <p:cNvPr id="5" name="TextBox 4"/>
          <p:cNvSpPr txBox="1"/>
          <p:nvPr/>
        </p:nvSpPr>
        <p:spPr>
          <a:xfrm>
            <a:off x="4663440" y="1234440"/>
            <a:ext cx="3749039" cy="2560320"/>
          </a:xfrm>
          <a:prstGeom prst="rect">
            <a:avLst/>
          </a:prstGeom>
          <a:noFill/>
        </p:spPr>
        <p:txBody>
          <a:bodyPr wrap="square">
            <a:spAutoFit/>
          </a:bodyPr>
          <a:lstStyle/>
          <a:p>
            <a:pPr algn="l"/>
            <a:r>
              <a:rPr sz="1300">
                <a:solidFill>
                  <a:srgbClr val="1F2933"/>
                </a:solidFill>
              </a:rPr>
              <a:t>The recommended system size is 772.4 kWp, with roof as the binding constraint.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PPA Model Explanation</a:t>
            </a:r>
          </a:p>
        </p:txBody>
      </p:sp>
      <p:sp>
        <p:nvSpPr>
          <p:cNvPr id="4" name="TextBox 3"/>
          <p:cNvSpPr txBox="1"/>
          <p:nvPr/>
        </p:nvSpPr>
        <p:spPr>
          <a:xfrm>
            <a:off x="658368" y="1234440"/>
            <a:ext cx="7955279" cy="1508760"/>
          </a:xfrm>
          <a:prstGeom prst="rect">
            <a:avLst/>
          </a:prstGeom>
          <a:noFill/>
        </p:spPr>
        <p:txBody>
          <a:bodyPr wrap="square">
            <a:spAutoFit/>
          </a:bodyPr>
          <a:lstStyle/>
          <a:p>
            <a:pPr algn="l"/>
            <a:r>
              <a:rPr sz="1400">
                <a:solidFill>
                  <a:srgbClr val="1F2933"/>
                </a:solidFill>
              </a:rPr>
              <a:t>Under the PPA model, the client pays for solar energy generated by the project instead of funding the full system upfront. Final commercial terms are to be confirmed by Aspan Energy.</a:t>
            </a:r>
          </a:p>
        </p:txBody>
      </p:sp>
      <p:sp>
        <p:nvSpPr>
          <p:cNvPr id="5" name="TextBox 4"/>
          <p:cNvSpPr txBox="1"/>
          <p:nvPr/>
        </p:nvSpPr>
        <p:spPr>
          <a:xfrm>
            <a:off x="658368" y="3063240"/>
            <a:ext cx="7955279" cy="1325880"/>
          </a:xfrm>
          <a:prstGeom prst="rect">
            <a:avLst/>
          </a:prstGeom>
          <a:noFill/>
        </p:spPr>
        <p:txBody>
          <a:bodyPr wrap="none">
            <a:spAutoFit/>
          </a:bodyPr>
          <a:lstStyle/>
          <a:p>
            <a:pPr algn="l">
              <a:defRPr sz="1200">
                <a:solidFill>
                  <a:srgbClr val="1F2933"/>
                </a:solidFill>
              </a:defRPr>
            </a:pPr>
            <a:r>
              <a:t>No upfront CAPEX, subject to final commercial confirmation.</a:t>
            </a:r>
          </a:p>
          <a:p>
            <a:pPr algn="l">
              <a:defRPr sz="1200">
                <a:solidFill>
                  <a:srgbClr val="1F2933"/>
                </a:solidFill>
              </a:defRPr>
            </a:pPr>
            <a:r>
              <a:t>Client pays for solar energy through a PPA.</a:t>
            </a:r>
          </a:p>
          <a:p>
            <a:pPr algn="l">
              <a:defRPr sz="1200">
                <a:solidFill>
                  <a:srgbClr val="1F2933"/>
                </a:solidFill>
              </a:defRPr>
            </a:pPr>
            <a:r>
              <a:t>Solar reduces daytime grid or diesel reliance.</a:t>
            </a:r>
          </a:p>
          <a:p>
            <a:pPr algn="l">
              <a:defRPr sz="1200">
                <a:solidFill>
                  <a:srgbClr val="1F2933"/>
                </a:solidFill>
              </a:defRPr>
            </a:pPr>
            <a:r>
              <a:t>Contract details must be confirmed by Aspan Energy.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Economic Analysis: Grid Replacement</a:t>
            </a:r>
          </a:p>
        </p:txBody>
      </p:sp>
      <p:sp>
        <p:nvSpPr>
          <p:cNvPr id="4" name="TextBox 3"/>
          <p:cNvSpPr txBox="1"/>
          <p:nvPr/>
        </p:nvSpPr>
        <p:spPr>
          <a:xfrm>
            <a:off x="658368" y="1234440"/>
            <a:ext cx="4114800" cy="1920240"/>
          </a:xfrm>
          <a:prstGeom prst="rect">
            <a:avLst/>
          </a:prstGeom>
          <a:noFill/>
        </p:spPr>
        <p:txBody>
          <a:bodyPr wrap="none">
            <a:spAutoFit/>
          </a:bodyPr>
          <a:lstStyle/>
          <a:p>
            <a:pPr algn="l">
              <a:defRPr sz="1200">
                <a:solidFill>
                  <a:srgbClr val="1F2933"/>
                </a:solidFill>
              </a:defRPr>
            </a:pPr>
            <a:r>
              <a:t>Monthly savings year 1: XOF 695,977</a:t>
            </a:r>
          </a:p>
          <a:p>
            <a:pPr algn="l">
              <a:defRPr sz="1200">
                <a:solidFill>
                  <a:srgbClr val="1F2933"/>
                </a:solidFill>
              </a:defRPr>
            </a:pPr>
            <a:r>
              <a:t>Annual savings year 1: XOF 8,351,728</a:t>
            </a:r>
          </a:p>
          <a:p>
            <a:pPr algn="l">
              <a:defRPr sz="1200">
                <a:solidFill>
                  <a:srgbClr val="1F2933"/>
                </a:solidFill>
              </a:defRPr>
            </a:pPr>
            <a:r>
              <a:t>Cumulative savings: XOF 390,273,992</a:t>
            </a:r>
          </a:p>
          <a:p>
            <a:pPr algn="l">
              <a:defRPr sz="1200">
                <a:solidFill>
                  <a:srgbClr val="1F2933"/>
                </a:solidFill>
              </a:defRPr>
            </a:pPr>
            <a:r>
              <a:t>Year 1 solar used: 1,046,889 kWh</a:t>
            </a:r>
          </a:p>
          <a:p>
            <a:pPr algn="l">
              <a:defRPr sz="1200">
                <a:solidFill>
                  <a:srgbClr val="1F2933"/>
                </a:solidFill>
              </a:defRPr>
            </a:pPr>
            <a:r>
              <a:t>Current cost baseline: XOF 75.078 per kWh</a:t>
            </a:r>
          </a:p>
          <a:p>
            <a:pPr algn="l">
              <a:defRPr sz="1200">
                <a:solidFill>
                  <a:srgbClr val="1F2933"/>
                </a:solidFill>
              </a:defRPr>
            </a:pPr>
            <a:r>
              <a:t>PPA tariff: XOF 67.100 per kWh</a:t>
            </a:r>
          </a:p>
        </p:txBody>
      </p:sp>
      <p:sp>
        <p:nvSpPr>
          <p:cNvPr id="5" name="TextBox 4"/>
          <p:cNvSpPr txBox="1"/>
          <p:nvPr/>
        </p:nvSpPr>
        <p:spPr>
          <a:xfrm>
            <a:off x="4983480" y="1234440"/>
            <a:ext cx="3474720" cy="2194560"/>
          </a:xfrm>
          <a:prstGeom prst="rect">
            <a:avLst/>
          </a:prstGeom>
          <a:noFill/>
        </p:spPr>
        <p:txBody>
          <a:bodyPr wrap="square">
            <a:spAutoFit/>
          </a:bodyPr>
          <a:lstStyle/>
          <a:p>
            <a:pPr algn="l"/>
            <a:r>
              <a:rPr sz="1300">
                <a:solidFill>
                  <a:srgbClr val="1F2933"/>
                </a:solidFill>
              </a:rPr>
              <a:t>Details to be confirmed by Aspan Energy.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Economic Analysis: Grid + Diesel</a:t>
            </a:r>
          </a:p>
        </p:txBody>
      </p:sp>
      <p:sp>
        <p:nvSpPr>
          <p:cNvPr id="4" name="TextBox 3"/>
          <p:cNvSpPr txBox="1"/>
          <p:nvPr/>
        </p:nvSpPr>
        <p:spPr>
          <a:xfrm>
            <a:off x="658368" y="1234440"/>
            <a:ext cx="4114800" cy="1920240"/>
          </a:xfrm>
          <a:prstGeom prst="rect">
            <a:avLst/>
          </a:prstGeom>
          <a:noFill/>
        </p:spPr>
        <p:txBody>
          <a:bodyPr wrap="none">
            <a:spAutoFit/>
          </a:bodyPr>
          <a:lstStyle/>
          <a:p>
            <a:pPr algn="l">
              <a:defRPr sz="1200">
                <a:solidFill>
                  <a:srgbClr val="1F2933"/>
                </a:solidFill>
              </a:defRPr>
            </a:pPr>
            <a:r>
              <a:t>Monthly savings year 1: XOF 6,145,139</a:t>
            </a:r>
          </a:p>
          <a:p>
            <a:pPr algn="l">
              <a:defRPr sz="1200">
                <a:solidFill>
                  <a:srgbClr val="1F2933"/>
                </a:solidFill>
              </a:defRPr>
            </a:pPr>
            <a:r>
              <a:t>Annual savings year 1: XOF 73,741,669</a:t>
            </a:r>
          </a:p>
          <a:p>
            <a:pPr algn="l">
              <a:defRPr sz="1200">
                <a:solidFill>
                  <a:srgbClr val="1F2933"/>
                </a:solidFill>
              </a:defRPr>
            </a:pPr>
            <a:r>
              <a:t>Cumulative savings: XOF 1,561,562,381</a:t>
            </a:r>
          </a:p>
          <a:p>
            <a:pPr algn="l">
              <a:defRPr sz="1200">
                <a:solidFill>
                  <a:srgbClr val="1F2933"/>
                </a:solidFill>
              </a:defRPr>
            </a:pPr>
            <a:r>
              <a:t>Year 1 solar used: 1,046,889 kWh</a:t>
            </a:r>
          </a:p>
          <a:p>
            <a:pPr algn="l">
              <a:defRPr sz="1200">
                <a:solidFill>
                  <a:srgbClr val="1F2933"/>
                </a:solidFill>
              </a:defRPr>
            </a:pPr>
            <a:r>
              <a:t>Current cost baseline: XOF 137.539 per kWh</a:t>
            </a:r>
          </a:p>
          <a:p>
            <a:pPr algn="l">
              <a:defRPr sz="1200">
                <a:solidFill>
                  <a:srgbClr val="1F2933"/>
                </a:solidFill>
              </a:defRPr>
            </a:pPr>
            <a:r>
              <a:t>PPA tariff: XOF 67.100 per kWh</a:t>
            </a:r>
          </a:p>
        </p:txBody>
      </p:sp>
      <p:sp>
        <p:nvSpPr>
          <p:cNvPr id="5" name="TextBox 4"/>
          <p:cNvSpPr txBox="1"/>
          <p:nvPr/>
        </p:nvSpPr>
        <p:spPr>
          <a:xfrm>
            <a:off x="4983480" y="1234440"/>
            <a:ext cx="3474720" cy="2194560"/>
          </a:xfrm>
          <a:prstGeom prst="rect">
            <a:avLst/>
          </a:prstGeom>
          <a:noFill/>
        </p:spPr>
        <p:txBody>
          <a:bodyPr wrap="square">
            <a:spAutoFit/>
          </a:bodyPr>
          <a:lstStyle/>
          <a:p>
            <a:pPr algn="l"/>
            <a:r>
              <a:rPr sz="1300">
                <a:solidFill>
                  <a:srgbClr val="1F2933"/>
                </a:solidFill>
              </a:rPr>
              <a:t>Scenario assumes a 50% grid and 50% diesel operating baseline for displaced daytime energy.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Scenario Comparison</a:t>
            </a:r>
          </a:p>
        </p:txBody>
      </p:sp>
      <p:graphicFrame>
        <p:nvGraphicFramePr>
          <p:cNvPr id="4" name="Chart 3"/>
          <p:cNvGraphicFramePr>
            <a:graphicFrameLocks noGrp="1"/>
          </p:cNvGraphicFramePr>
          <p:nvPr/>
        </p:nvGraphicFramePr>
        <p:xfrm>
          <a:off x="731520" y="1234440"/>
          <a:ext cx="7680960" cy="356616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Scope of Aspan Services</a:t>
            </a:r>
          </a:p>
        </p:txBody>
      </p:sp>
      <p:sp>
        <p:nvSpPr>
          <p:cNvPr id="4" name="TextBox 3"/>
          <p:cNvSpPr txBox="1"/>
          <p:nvPr/>
        </p:nvSpPr>
        <p:spPr>
          <a:xfrm>
            <a:off x="658368" y="1234440"/>
            <a:ext cx="7863840" cy="3108960"/>
          </a:xfrm>
          <a:prstGeom prst="rect">
            <a:avLst/>
          </a:prstGeom>
          <a:noFill/>
        </p:spPr>
        <p:txBody>
          <a:bodyPr wrap="square">
            <a:spAutoFit/>
          </a:bodyPr>
          <a:lstStyle/>
          <a:p>
            <a:pPr algn="l"/>
            <a:r>
              <a:rPr sz="1400">
                <a:solidFill>
                  <a:srgbClr val="1F2933"/>
                </a:solidFill>
              </a:rPr>
              <a:t>Aspan's scope should follow the approved facts pack and be confirmed during commercial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Implementation Process</a:t>
            </a:r>
          </a:p>
        </p:txBody>
      </p:sp>
      <p:sp>
        <p:nvSpPr>
          <p:cNvPr id="4" name="TextBox 3"/>
          <p:cNvSpPr txBox="1"/>
          <p:nvPr/>
        </p:nvSpPr>
        <p:spPr>
          <a:xfrm>
            <a:off x="658368" y="1234440"/>
            <a:ext cx="7863840" cy="3108960"/>
          </a:xfrm>
          <a:prstGeom prst="rect">
            <a:avLst/>
          </a:prstGeom>
          <a:noFill/>
        </p:spPr>
        <p:txBody>
          <a:bodyPr wrap="square">
            <a:spAutoFit/>
          </a:bodyPr>
          <a:lstStyle/>
          <a:p>
            <a:pPr algn="l"/>
            <a:r>
              <a:rPr sz="1400">
                <a:solidFill>
                  <a:srgbClr val="1F2933"/>
                </a:solidFill>
              </a:rPr>
              <a:t>The next phase should confirm site data, validate assumptions, review commercial terms, and prepare a detailed proposal for approval.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Next Steps</a:t>
            </a:r>
          </a:p>
        </p:txBody>
      </p:sp>
      <p:sp>
        <p:nvSpPr>
          <p:cNvPr id="4" name="TextBox 3"/>
          <p:cNvSpPr txBox="1"/>
          <p:nvPr/>
        </p:nvSpPr>
        <p:spPr>
          <a:xfrm>
            <a:off x="658368" y="1234440"/>
            <a:ext cx="7680960" cy="2926080"/>
          </a:xfrm>
          <a:prstGeom prst="rect">
            <a:avLst/>
          </a:prstGeom>
          <a:noFill/>
        </p:spPr>
        <p:txBody>
          <a:bodyPr wrap="none">
            <a:spAutoFit/>
          </a:bodyPr>
          <a:lstStyle/>
          <a:p>
            <a:pPr algn="l">
              <a:defRPr sz="1400">
                <a:solidFill>
                  <a:srgbClr val="1F2933"/>
                </a:solidFill>
              </a:defRPr>
            </a:pPr>
            <a:r>
              <a:t>Confirm assumptions</a:t>
            </a:r>
          </a:p>
          <a:p>
            <a:pPr algn="l">
              <a:defRPr sz="1400">
                <a:solidFill>
                  <a:srgbClr val="1F2933"/>
                </a:solidFill>
              </a:defRPr>
            </a:pPr>
            <a:r>
              <a:t>Validate roof area</a:t>
            </a:r>
          </a:p>
          <a:p>
            <a:pPr algn="l">
              <a:defRPr sz="1400">
                <a:solidFill>
                  <a:srgbClr val="1F2933"/>
                </a:solidFill>
              </a:defRPr>
            </a:pPr>
            <a:r>
              <a:t>Confirm tariff and diesel assumptions</a:t>
            </a:r>
          </a:p>
          <a:p>
            <a:pPr algn="l">
              <a:defRPr sz="1400">
                <a:solidFill>
                  <a:srgbClr val="1F2933"/>
                </a:solidFill>
              </a:defRPr>
            </a:pPr>
            <a:r>
              <a:t>Complete site assessment</a:t>
            </a:r>
          </a:p>
          <a:p>
            <a:pPr algn="l">
              <a:defRPr sz="1400">
                <a:solidFill>
                  <a:srgbClr val="1F2933"/>
                </a:solidFill>
              </a:defRPr>
            </a:pPr>
            <a:r>
              <a:t>Complete commercial review</a:t>
            </a:r>
          </a:p>
          <a:p>
            <a:pPr algn="l">
              <a:defRPr sz="1400">
                <a:solidFill>
                  <a:srgbClr val="1F2933"/>
                </a:solidFill>
              </a:defRPr>
            </a:pPr>
            <a:r>
              <a:t>Proceed to detailed proposal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Assumptions Appendix</a:t>
            </a:r>
          </a:p>
        </p:txBody>
      </p:sp>
      <p:sp>
        <p:nvSpPr>
          <p:cNvPr id="4" name="TextBox 3"/>
          <p:cNvSpPr txBox="1"/>
          <p:nvPr/>
        </p:nvSpPr>
        <p:spPr>
          <a:xfrm>
            <a:off x="548640" y="1078992"/>
            <a:ext cx="8138160" cy="4343400"/>
          </a:xfrm>
          <a:prstGeom prst="rect">
            <a:avLst/>
          </a:prstGeom>
          <a:noFill/>
        </p:spPr>
        <p:txBody>
          <a:bodyPr wrap="none">
            <a:spAutoFit/>
          </a:bodyPr>
          <a:lstStyle/>
          <a:p>
            <a:pPr algn="l">
              <a:defRPr sz="900">
                <a:solidFill>
                  <a:srgbClr val="1F2933"/>
                </a:solidFill>
              </a:defRPr>
            </a:pPr>
            <a:r>
              <a:t>Monthly kWh: 233,633</a:t>
            </a:r>
          </a:p>
          <a:p>
            <a:pPr algn="l">
              <a:defRPr sz="900">
                <a:solidFill>
                  <a:srgbClr val="1F2933"/>
                </a:solidFill>
              </a:defRPr>
            </a:pPr>
            <a:r>
              <a:t>Daytime fraction: 0.75</a:t>
            </a:r>
          </a:p>
          <a:p>
            <a:pPr algn="l">
              <a:defRPr sz="900">
                <a:solidFill>
                  <a:srgbClr val="1F2933"/>
                </a:solidFill>
              </a:defRPr>
            </a:pPr>
            <a:r>
              <a:t>Roof area: 5,149 m2</a:t>
            </a:r>
          </a:p>
          <a:p>
            <a:pPr algn="l">
              <a:defRPr sz="900">
                <a:solidFill>
                  <a:srgbClr val="1F2933"/>
                </a:solidFill>
              </a:defRPr>
            </a:pPr>
            <a:r>
              <a:t>Grid capacity: 1,250 kVA</a:t>
            </a:r>
          </a:p>
          <a:p>
            <a:pPr algn="l">
              <a:defRPr sz="900">
                <a:solidFill>
                  <a:srgbClr val="1F2933"/>
                </a:solidFill>
              </a:defRPr>
            </a:pPr>
            <a:r>
              <a:t>Recommended kWp: 772.4 kWp</a:t>
            </a:r>
          </a:p>
          <a:p>
            <a:pPr algn="l">
              <a:defRPr sz="900">
                <a:solidFill>
                  <a:srgbClr val="1F2933"/>
                </a:solidFill>
              </a:defRPr>
            </a:pPr>
            <a:r>
              <a:t>PPA tariff: XOF 67.100 per kWh</a:t>
            </a:r>
          </a:p>
          <a:p>
            <a:pPr algn="l">
              <a:defRPr sz="900">
                <a:solidFill>
                  <a:srgbClr val="1F2933"/>
                </a:solidFill>
              </a:defRPr>
            </a:pPr>
            <a:r>
              <a:t>Grid tariff: XOF 75.078 per kWh</a:t>
            </a:r>
          </a:p>
          <a:p>
            <a:pPr algn="l">
              <a:defRPr sz="900">
                <a:solidFill>
                  <a:srgbClr val="1F2933"/>
                </a:solidFill>
              </a:defRPr>
            </a:pPr>
            <a:r>
              <a:t>Tariff basis: kwh weighted average across uploaded bills</a:t>
            </a:r>
          </a:p>
          <a:p>
            <a:pPr algn="l">
              <a:defRPr sz="900">
                <a:solidFill>
                  <a:srgbClr val="1F2933"/>
                </a:solidFill>
              </a:defRPr>
            </a:pPr>
            <a:r>
              <a:t>Active energy charge: XOF 17,531,792</a:t>
            </a:r>
          </a:p>
          <a:p>
            <a:pPr algn="l">
              <a:defRPr sz="900">
                <a:solidFill>
                  <a:srgbClr val="1F2933"/>
                </a:solidFill>
              </a:defRPr>
            </a:pPr>
            <a:r>
              <a:t>Penalties: XOF 2,860,036</a:t>
            </a:r>
          </a:p>
          <a:p>
            <a:pPr algn="l">
              <a:defRPr sz="900">
                <a:solidFill>
                  <a:srgbClr val="1F2933"/>
                </a:solidFill>
              </a:defRPr>
            </a:pPr>
            <a:r>
              <a:t>Diesel price: XOF 700.00 per liter</a:t>
            </a:r>
          </a:p>
          <a:p>
            <a:pPr algn="l">
              <a:defRPr sz="900">
                <a:solidFill>
                  <a:srgbClr val="1F2933"/>
                </a:solidFill>
              </a:defRPr>
            </a:pPr>
            <a:r>
              <a:t>Diesel kWh per liter: 3.50</a:t>
            </a:r>
          </a:p>
          <a:p>
            <a:pPr algn="l">
              <a:defRPr sz="900">
                <a:solidFill>
                  <a:srgbClr val="1F2933"/>
                </a:solidFill>
              </a:defRPr>
            </a:pPr>
            <a:r>
              <a:t>Performance ratio: 0.80</a:t>
            </a:r>
          </a:p>
          <a:p>
            <a:pPr algn="l">
              <a:defRPr sz="900">
                <a:solidFill>
                  <a:srgbClr val="1F2933"/>
                </a:solidFill>
              </a:defRPr>
            </a:pPr>
            <a:r>
              <a:t>Panel degradation rate: 0.005</a:t>
            </a:r>
          </a:p>
          <a:p>
            <a:pPr algn="l">
              <a:defRPr sz="900">
                <a:solidFill>
                  <a:srgbClr val="1F2933"/>
                </a:solidFill>
              </a:defRPr>
            </a:pPr>
            <a:r>
              <a:t>Tariff escalation rate: 0.03</a:t>
            </a:r>
          </a:p>
          <a:p>
            <a:pPr algn="l">
              <a:defRPr sz="900">
                <a:solidFill>
                  <a:srgbClr val="1F2933"/>
                </a:solidFill>
              </a:defRPr>
            </a:pPr>
            <a:r>
              <a:t>Analysis horizon: 15 years</a:t>
            </a:r>
          </a:p>
          <a:p>
            <a:pPr algn="l">
              <a:defRPr sz="900">
                <a:solidFill>
                  <a:srgbClr val="1F2933"/>
                </a:solidFill>
              </a:defRPr>
            </a:pPr>
            <a:r>
              <a:t>Production source: nasa_power_allsky_sfc_sw_dwn</a:t>
            </a:r>
          </a:p>
          <a:p>
            <a:pPr algn="l">
              <a:defRPr sz="900">
                <a:solidFill>
                  <a:srgbClr val="1F2933"/>
                </a:solidFill>
              </a:defRPr>
            </a:pPr>
            <a:r>
              <a:t>PERIODE DE CONSOMMATION 11/2024: billing period set to 2024-11-01 through 2024-11-30; payment due date 30/12/2024 not used as period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Aspan Energy placeholder proposal template</dc:title>
  <dc:subject>TODO: Replace with Aspan logo; TODO: Apply Aspan brand colors; TODO: Confirm fonts; TODO: Replace placeholder icons if needed</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